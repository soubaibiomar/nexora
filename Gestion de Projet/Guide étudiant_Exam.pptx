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7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him sabiri" initials="bs" lastIdx="1" clrIdx="0">
    <p:extLst>
      <p:ext uri="{19B8F6BF-5375-455C-9EA6-DF929625EA0E}">
        <p15:presenceInfo xmlns:p15="http://schemas.microsoft.com/office/powerpoint/2012/main" userId="1385a84d80ed297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ABC27-5B9B-4AED-A6E6-4BEC96A75B9B}" type="datetimeFigureOut">
              <a:rPr lang="fr-MA" smtClean="0"/>
              <a:t>01/05/2026</a:t>
            </a:fld>
            <a:endParaRPr lang="f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684CD-BC24-4477-A6AE-8145CFA2404B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7995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E75A-B487-32D7-B4AB-E588898B3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F777A-F20C-C467-A5FE-241E90749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0189-305C-9BFD-27FF-855A6C65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1BDB6-42D4-41C6-90BF-A52B93343617}" type="datetime1">
              <a:rPr lang="fr-MA" smtClean="0"/>
              <a:t>01/05/2026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FD370-26DC-1DE9-91C2-97855E35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ED791-425A-8E32-31B5-9F8BA088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40211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96DE-83DA-75EF-F7A0-DE1E3695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81AB-1E14-ADD5-05A5-813C2208E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3C62-6ECA-78B2-DA9B-4C6A788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B0BC-EECE-4526-9DDE-ECA5EAD96F9E}" type="datetime1">
              <a:rPr lang="fr-MA" smtClean="0"/>
              <a:t>01/05/2026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D9B9F-22A7-4059-D12E-04BDF3A3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58CF3-B06B-1CD6-992B-2C88131C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3984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4B76-6C0E-CFBE-3D6A-81A18B4B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1AB47-4DC1-E61B-B1A2-2F3547F8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46C64-5451-AB99-1608-F41510E2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039E7-782E-44CF-B35C-221C95AEE078}" type="datetime1">
              <a:rPr lang="fr-MA" smtClean="0"/>
              <a:t>01/05/2026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17700-81A3-B943-A33B-40893A50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6D95-FF5D-78BA-19AA-30356797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391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369A-BAB0-8982-1CF8-3966DC7E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18F4-D14B-06B5-B97E-FE9DF88D2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78087-8EFB-E984-E502-5E6D708D5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328CA-0B75-53D6-B226-074D8211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EF0BF-4D17-4DBC-94D0-8618AB5FA211}" type="datetime1">
              <a:rPr lang="fr-MA" smtClean="0"/>
              <a:t>01/05/2026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84AE7-69A5-3180-B3CA-E00019F3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C2B0A-C76C-7677-E679-48CBC7F7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8048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8652-73CB-B143-6CF9-FA5E0AAFB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52D3C-E5C1-3B24-53A6-2FC3DEF84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45236-EDC6-F1BD-6C5F-B5BDADC06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4AD61-BD2C-A881-DF16-79E45515F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A0509-1380-8DEA-821B-634F0871A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AABA6-117E-982D-A8F2-C42570A4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29FA4-5EA2-4807-BCB8-CAC6443F2A4A}" type="datetime1">
              <a:rPr lang="fr-MA" smtClean="0"/>
              <a:t>01/05/2026</a:t>
            </a:fld>
            <a:endParaRPr lang="fr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7551A-5769-6966-5D52-FDC53AD6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1D599-8964-7049-0F74-DC90CEDA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9267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CA15-0AB2-A2A2-6D2C-1F51AB07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01B4B-26BC-1074-449D-5D1AD360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A9EF-B8A8-44A6-972C-48AA6929DFFD}" type="datetime1">
              <a:rPr lang="fr-MA" smtClean="0"/>
              <a:t>01/05/2026</a:t>
            </a:fld>
            <a:endParaRPr lang="fr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2A5E-3D50-5A46-F99B-DF5D0108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5CB9E-6B4F-3990-A0A3-D4E1C95F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5352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95ACC-6E48-1F32-0032-9F30C870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CD15F-3DB1-4812-B882-1DFA734A04BC}" type="datetime1">
              <a:rPr lang="fr-MA" smtClean="0"/>
              <a:t>01/05/2026</a:t>
            </a:fld>
            <a:endParaRPr lang="fr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1AB58-104E-487D-F6AA-CA309010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72E5B-41F7-B411-190D-828BDB5E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41465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AEE8-C81E-46FB-A747-4D588020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8536-4DAE-DF31-C3E4-1B9949CCB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99BF6-0CFA-145F-53C2-CA1277642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3FF3C-A6A7-7545-FE9A-D31B781F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5A19-803E-436B-BF4F-AA9D50FE6286}" type="datetime1">
              <a:rPr lang="fr-MA" smtClean="0"/>
              <a:t>01/05/2026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C42D1-ECAA-FE18-63DA-12358D6F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FC9BE-015C-C413-D0A1-23500716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075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F292-C182-3D09-0C2D-D2B2093B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2DD873-85B6-3BD2-7997-C9FB9DB3B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E2E67-BC64-FC49-5A54-5A22A5660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B49F1-FF45-7DCB-1F75-1F33E71F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5CB0-531B-40E4-ADB3-959D5B3D045F}" type="datetime1">
              <a:rPr lang="fr-MA" smtClean="0"/>
              <a:t>01/05/2026</a:t>
            </a:fld>
            <a:endParaRPr lang="fr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A0F10-11C0-9952-4C75-578E5DBE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755F3-076D-BDE0-C388-B2325FC5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7446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E702-C955-7AD5-345A-E722C92A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4653A-8BDD-2B48-0E93-1D309A486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01BE7-7D19-D4CA-F131-9EE7E728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7287-BC99-4A24-993E-230F9F905744}" type="datetime1">
              <a:rPr lang="fr-MA" smtClean="0"/>
              <a:t>01/05/2026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7B124-437A-381C-8122-EC6625414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A83C-365C-04B4-D885-6FC165B8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0008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CC378-5DB8-895F-0858-F7BEDFEFE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FAC4E-5BEB-84D5-4622-6F8D55C6F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9348E-19DB-58C5-7EDE-A8C8E39A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1AB76-70B1-4105-9559-AB4675482938}" type="datetime1">
              <a:rPr lang="fr-MA" smtClean="0"/>
              <a:t>01/05/2026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EF5E8-27BB-E718-24E4-8940D9C7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8CB9E-AA60-58E5-18C9-9BCCF733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1193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166CD-AAEA-06CA-A2FF-98E117181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605C7-ED91-6736-5E35-9FB1A108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59906-E6F9-94D3-CA0F-E297A8B12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7BD6B-86A7-4DE6-9094-02E9307FD7F1}" type="datetime1">
              <a:rPr lang="fr-MA" smtClean="0"/>
              <a:t>01/05/2026</a:t>
            </a:fld>
            <a:endParaRPr lang="fr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B4ABA-ACE4-2F55-A035-22F681B62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6B06-4B73-B13D-5DD0-BF76A4E73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D95DF-1EF6-4F45-8E4F-2DD0304F7EA7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512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DFBA-02A7-C8B5-46B9-91867AB12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" y="2296159"/>
            <a:ext cx="11501120" cy="1731645"/>
          </a:xfrm>
          <a:solidFill>
            <a:srgbClr val="7E0000"/>
          </a:solidFill>
        </p:spPr>
        <p:txBody>
          <a:bodyPr>
            <a:normAutofit fontScale="90000"/>
          </a:bodyPr>
          <a:lstStyle/>
          <a:p>
            <a:pPr algn="l"/>
            <a:r>
              <a:rPr lang="fr-FR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Guide étudiant</a:t>
            </a:r>
            <a:br>
              <a:rPr lang="fr-FR" b="1" dirty="0">
                <a:solidFill>
                  <a:schemeClr val="bg1"/>
                </a:solidFill>
              </a:rPr>
            </a:br>
            <a:r>
              <a:rPr lang="fr-FR" sz="5300" b="1" dirty="0">
                <a:solidFill>
                  <a:schemeClr val="bg1"/>
                </a:solidFill>
              </a:rPr>
              <a:t>Contenu du Rapport de la Présentation du PFA</a:t>
            </a:r>
            <a:endParaRPr lang="fr-M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B869F-F041-14A0-F806-6C3F22040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440" y="4160839"/>
            <a:ext cx="11501120" cy="685482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/>
          <a:lstStyle/>
          <a:p>
            <a:pPr algn="r"/>
            <a:r>
              <a:rPr lang="fr-MA" dirty="0"/>
              <a:t>4</a:t>
            </a:r>
            <a:r>
              <a:rPr lang="fr-MA" baseline="30000" dirty="0"/>
              <a:t>ème</a:t>
            </a:r>
            <a:r>
              <a:rPr lang="fr-MA" dirty="0"/>
              <a:t> année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17551-41EF-17EE-8593-8B67803C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57" y="531177"/>
            <a:ext cx="4581525" cy="1000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0C2267-4FED-D3CE-7433-A6991D6EE622}"/>
              </a:ext>
            </a:extLst>
          </p:cNvPr>
          <p:cNvSpPr txBox="1"/>
          <p:nvPr/>
        </p:nvSpPr>
        <p:spPr>
          <a:xfrm>
            <a:off x="3749040" y="6096000"/>
            <a:ext cx="488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dirty="0"/>
              <a:t>Année : 2025 - 2026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2C3CB-05B4-9C83-BFCC-C196566D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79675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C009-BCC8-B743-79EB-EE97323F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D800-4E83-AABA-70E8-9DFB04216C8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de Rapport et de la présentation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5C11AE-BC83-C305-0DCB-AFD560D3E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77604"/>
              </p:ext>
            </p:extLst>
          </p:nvPr>
        </p:nvGraphicFramePr>
        <p:xfrm>
          <a:off x="838200" y="2021840"/>
          <a:ext cx="10515600" cy="3512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1015">
                  <a:extLst>
                    <a:ext uri="{9D8B030D-6E8A-4147-A177-3AD203B41FA5}">
                      <a16:colId xmlns:a16="http://schemas.microsoft.com/office/drawing/2014/main" val="2823239291"/>
                    </a:ext>
                  </a:extLst>
                </a:gridCol>
                <a:gridCol w="6974585">
                  <a:extLst>
                    <a:ext uri="{9D8B030D-6E8A-4147-A177-3AD203B41FA5}">
                      <a16:colId xmlns:a16="http://schemas.microsoft.com/office/drawing/2014/main" val="1333183668"/>
                    </a:ext>
                  </a:extLst>
                </a:gridCol>
              </a:tblGrid>
              <a:tr h="680720">
                <a:tc>
                  <a:txBody>
                    <a:bodyPr/>
                    <a:lstStyle/>
                    <a:p>
                      <a:pPr algn="ctr"/>
                      <a:r>
                        <a:rPr lang="fr-MA" sz="2400" b="1" dirty="0">
                          <a:solidFill>
                            <a:schemeClr val="tx1"/>
                          </a:solidFill>
                        </a:rPr>
                        <a:t>Type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sz="2400" b="1" dirty="0">
                          <a:solidFill>
                            <a:schemeClr val="tx1"/>
                          </a:solidFill>
                        </a:rPr>
                        <a:t>Elément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44888"/>
                  </a:ext>
                </a:extLst>
              </a:tr>
              <a:tr h="14159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A" b="1" dirty="0"/>
                        <a:t>Etude de marché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Analyse PESTEL </a:t>
                      </a:r>
                    </a:p>
                    <a:p>
                      <a:r>
                        <a:rPr lang="fr-FR" b="1" dirty="0"/>
                        <a:t>Analyse SWOT</a:t>
                      </a:r>
                    </a:p>
                    <a:p>
                      <a:r>
                        <a:rPr lang="fr-FR" b="1" dirty="0"/>
                        <a:t>Analyse des 5 forces de Porter</a:t>
                      </a:r>
                      <a:endParaRPr lang="fr-MA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397229"/>
                  </a:ext>
                </a:extLst>
              </a:tr>
              <a:tr h="1415906">
                <a:tc>
                  <a:txBody>
                    <a:bodyPr/>
                    <a:lstStyle/>
                    <a:p>
                      <a:r>
                        <a:rPr lang="fr-MA" b="1" dirty="0"/>
                        <a:t>Etude prévisionnelle de faisabilité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MA" b="1" dirty="0"/>
                        <a:t>Etude technique</a:t>
                      </a:r>
                    </a:p>
                    <a:p>
                      <a:r>
                        <a:rPr lang="fr-MA" b="1" dirty="0"/>
                        <a:t>Etude commerciale</a:t>
                      </a:r>
                    </a:p>
                    <a:p>
                      <a:r>
                        <a:rPr lang="fr-MA" b="1" dirty="0"/>
                        <a:t>Etude financière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39873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B2FEC-1F1D-F61C-A9D5-31B04DB1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2</a:t>
            </a:fld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7669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670B-2E5C-2323-9A37-A034C98E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du Rapport : Etude de Marché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B42E-C69D-7811-6252-200B8059B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473200"/>
            <a:ext cx="12049760" cy="53665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MA" b="1" dirty="0"/>
              <a:t>Analyse PESTEL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MA" sz="2400" b="1" i="1" dirty="0">
                <a:sym typeface="Wingdings" panose="05000000000000000000" pitchFamily="2" charset="2"/>
              </a:rPr>
              <a:t> Etablissez  votre analyse PESTEL en répondant à ces questions :</a:t>
            </a:r>
            <a:endParaRPr lang="fr-FR" sz="2400" b="1" i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fr-FR" sz="1900" b="1" dirty="0">
                <a:sym typeface="Wingdings" panose="05000000000000000000" pitchFamily="2" charset="2"/>
              </a:rPr>
              <a:t>« Est-ce que le contexte </a:t>
            </a:r>
            <a:r>
              <a:rPr lang="fr-FR" sz="1900" b="1" dirty="0">
                <a:solidFill>
                  <a:schemeClr val="accent1"/>
                </a:solidFill>
                <a:sym typeface="Wingdings" panose="05000000000000000000" pitchFamily="2" charset="2"/>
              </a:rPr>
              <a:t>politique</a:t>
            </a:r>
            <a:r>
              <a:rPr lang="fr-FR" sz="1900" b="1" dirty="0">
                <a:sym typeface="Wingdings" panose="05000000000000000000" pitchFamily="2" charset="2"/>
              </a:rPr>
              <a:t> du marché influence </a:t>
            </a:r>
            <a:r>
              <a:rPr lang="fr-FR" sz="19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900" b="1" dirty="0">
                <a:sym typeface="Wingdings" panose="05000000000000000000" pitchFamily="2" charset="2"/>
              </a:rPr>
              <a:t> ou </a:t>
            </a:r>
            <a:r>
              <a:rPr lang="fr-FR" sz="19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9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900" b="1" dirty="0">
                <a:sym typeface="Wingdings" panose="05000000000000000000" pitchFamily="2" charset="2"/>
              </a:rPr>
              <a:t>« Est-ce que le contexte </a:t>
            </a:r>
            <a:r>
              <a:rPr lang="fr-FR" sz="1900" b="1" dirty="0">
                <a:solidFill>
                  <a:schemeClr val="accent1"/>
                </a:solidFill>
                <a:sym typeface="Wingdings" panose="05000000000000000000" pitchFamily="2" charset="2"/>
              </a:rPr>
              <a:t>économique</a:t>
            </a:r>
            <a:r>
              <a:rPr lang="fr-FR" sz="1900" b="1" dirty="0">
                <a:sym typeface="Wingdings" panose="05000000000000000000" pitchFamily="2" charset="2"/>
              </a:rPr>
              <a:t> du marché influence </a:t>
            </a:r>
            <a:r>
              <a:rPr lang="fr-FR" sz="19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900" b="1" dirty="0">
                <a:sym typeface="Wingdings" panose="05000000000000000000" pitchFamily="2" charset="2"/>
              </a:rPr>
              <a:t> ou </a:t>
            </a:r>
            <a:r>
              <a:rPr lang="fr-FR" sz="19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9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900" b="1" dirty="0">
                <a:sym typeface="Wingdings" panose="05000000000000000000" pitchFamily="2" charset="2"/>
              </a:rPr>
              <a:t>« Est-ce que le contexte </a:t>
            </a:r>
            <a:r>
              <a:rPr lang="fr-FR" sz="1900" b="1" dirty="0">
                <a:solidFill>
                  <a:schemeClr val="accent1"/>
                </a:solidFill>
                <a:sym typeface="Wingdings" panose="05000000000000000000" pitchFamily="2" charset="2"/>
              </a:rPr>
              <a:t>socioculturel</a:t>
            </a:r>
            <a:r>
              <a:rPr lang="fr-FR" sz="1900" b="1" dirty="0">
                <a:sym typeface="Wingdings" panose="05000000000000000000" pitchFamily="2" charset="2"/>
              </a:rPr>
              <a:t> du marché influence </a:t>
            </a:r>
            <a:r>
              <a:rPr lang="fr-FR" sz="19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900" b="1" dirty="0">
                <a:sym typeface="Wingdings" panose="05000000000000000000" pitchFamily="2" charset="2"/>
              </a:rPr>
              <a:t> ou </a:t>
            </a:r>
            <a:r>
              <a:rPr lang="fr-FR" sz="19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9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900" b="1" dirty="0">
                <a:sym typeface="Wingdings" panose="05000000000000000000" pitchFamily="2" charset="2"/>
              </a:rPr>
              <a:t>« Est-ce que le contexte </a:t>
            </a:r>
            <a:r>
              <a:rPr lang="fr-FR" sz="1900" b="1" dirty="0">
                <a:solidFill>
                  <a:schemeClr val="accent1"/>
                </a:solidFill>
                <a:sym typeface="Wingdings" panose="05000000000000000000" pitchFamily="2" charset="2"/>
              </a:rPr>
              <a:t>technologique</a:t>
            </a:r>
            <a:r>
              <a:rPr lang="fr-FR" sz="1900" b="1" dirty="0">
                <a:sym typeface="Wingdings" panose="05000000000000000000" pitchFamily="2" charset="2"/>
              </a:rPr>
              <a:t> du marché influence </a:t>
            </a:r>
            <a:r>
              <a:rPr lang="fr-FR" sz="19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900" b="1" dirty="0">
                <a:sym typeface="Wingdings" panose="05000000000000000000" pitchFamily="2" charset="2"/>
              </a:rPr>
              <a:t> ou </a:t>
            </a:r>
            <a:r>
              <a:rPr lang="fr-FR" sz="19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9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900" b="1" dirty="0">
                <a:sym typeface="Wingdings" panose="05000000000000000000" pitchFamily="2" charset="2"/>
              </a:rPr>
              <a:t>« Est-ce que le contexte </a:t>
            </a:r>
            <a:r>
              <a:rPr lang="fr-FR" sz="1900" b="1" dirty="0">
                <a:solidFill>
                  <a:schemeClr val="accent1"/>
                </a:solidFill>
                <a:sym typeface="Wingdings" panose="05000000000000000000" pitchFamily="2" charset="2"/>
              </a:rPr>
              <a:t>environnemental</a:t>
            </a:r>
            <a:r>
              <a:rPr lang="fr-FR" sz="1900" b="1" dirty="0">
                <a:sym typeface="Wingdings" panose="05000000000000000000" pitchFamily="2" charset="2"/>
              </a:rPr>
              <a:t> du marché influence </a:t>
            </a:r>
            <a:r>
              <a:rPr lang="fr-FR" sz="19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900" b="1" dirty="0">
                <a:sym typeface="Wingdings" panose="05000000000000000000" pitchFamily="2" charset="2"/>
              </a:rPr>
              <a:t> ou </a:t>
            </a:r>
            <a:r>
              <a:rPr lang="fr-FR" sz="19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900" b="1" dirty="0">
                <a:sym typeface="Wingdings" panose="05000000000000000000" pitchFamily="2" charset="2"/>
              </a:rPr>
              <a:t> votre projet ? »</a:t>
            </a:r>
          </a:p>
          <a:p>
            <a:pPr>
              <a:lnSpc>
                <a:spcPct val="150000"/>
              </a:lnSpc>
            </a:pPr>
            <a:r>
              <a:rPr lang="fr-FR" sz="1900" b="1" dirty="0">
                <a:sym typeface="Wingdings" panose="05000000000000000000" pitchFamily="2" charset="2"/>
              </a:rPr>
              <a:t>« Est-ce que le contexte </a:t>
            </a:r>
            <a:r>
              <a:rPr lang="fr-FR" sz="1900" b="1" dirty="0">
                <a:solidFill>
                  <a:schemeClr val="accent1"/>
                </a:solidFill>
                <a:sym typeface="Wingdings" panose="05000000000000000000" pitchFamily="2" charset="2"/>
              </a:rPr>
              <a:t>légal</a:t>
            </a:r>
            <a:r>
              <a:rPr lang="fr-FR" sz="1900" b="1" dirty="0">
                <a:sym typeface="Wingdings" panose="05000000000000000000" pitchFamily="2" charset="2"/>
              </a:rPr>
              <a:t> du marché influence </a:t>
            </a:r>
            <a:r>
              <a:rPr lang="fr-FR" sz="19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900" b="1" dirty="0">
                <a:sym typeface="Wingdings" panose="05000000000000000000" pitchFamily="2" charset="2"/>
              </a:rPr>
              <a:t> ou </a:t>
            </a:r>
            <a:r>
              <a:rPr lang="fr-FR" sz="19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900" b="1" dirty="0">
                <a:sym typeface="Wingdings" panose="05000000000000000000" pitchFamily="2" charset="2"/>
              </a:rPr>
              <a:t> votre projet ? »</a:t>
            </a:r>
            <a:endParaRPr lang="fr-MA" sz="1900" b="1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B4801-974B-B225-B258-B1DE106B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3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83364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753AE-70F7-FCFC-7119-E3128D78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A93D-A948-9A88-4412-F1BDBDFE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du Rapport : Etude de Marché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ECA2-A72F-CE8B-F035-0CE5429D8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343819"/>
            <a:ext cx="12120880" cy="549592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MA" b="1" dirty="0"/>
              <a:t>Analyse SWOT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fr-MA" sz="2000" b="1" i="1" dirty="0">
                <a:sym typeface="Wingdings" panose="05000000000000000000" pitchFamily="2" charset="2"/>
              </a:rPr>
              <a:t> Etablissez  votre analyse SWOT en répondant à ces questions :</a:t>
            </a:r>
            <a:endParaRPr lang="fr-FR" sz="1900" b="1" dirty="0"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fr-FR" sz="2000" b="1" dirty="0">
                <a:sym typeface="Wingdings" panose="05000000000000000000" pitchFamily="2" charset="2"/>
              </a:rPr>
              <a:t>« Quelles sont les principales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forces</a:t>
            </a:r>
            <a:r>
              <a:rPr lang="fr-FR" sz="2000" b="1" dirty="0">
                <a:sym typeface="Wingdings" panose="05000000000000000000" pitchFamily="2" charset="2"/>
              </a:rPr>
              <a:t> de votre projet par rapport à celles de vos concurrents ? »</a:t>
            </a:r>
          </a:p>
          <a:p>
            <a:pPr>
              <a:lnSpc>
                <a:spcPct val="200000"/>
              </a:lnSpc>
            </a:pPr>
            <a:r>
              <a:rPr lang="fr-FR" sz="2000" b="1" dirty="0">
                <a:sym typeface="Wingdings" panose="05000000000000000000" pitchFamily="2" charset="2"/>
              </a:rPr>
              <a:t>« Quelles sont les principales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faiblesses</a:t>
            </a:r>
            <a:r>
              <a:rPr lang="fr-FR" sz="2000" b="1" dirty="0">
                <a:sym typeface="Wingdings" panose="05000000000000000000" pitchFamily="2" charset="2"/>
              </a:rPr>
              <a:t> de votre projet par rapport à celles de vos concurrents ? »</a:t>
            </a:r>
          </a:p>
          <a:p>
            <a:pPr>
              <a:lnSpc>
                <a:spcPct val="200000"/>
              </a:lnSpc>
            </a:pPr>
            <a:r>
              <a:rPr lang="fr-FR" sz="2000" b="1" dirty="0">
                <a:sym typeface="Wingdings" panose="05000000000000000000" pitchFamily="2" charset="2"/>
              </a:rPr>
              <a:t>« Quelles sont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les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opportunités</a:t>
            </a:r>
            <a:r>
              <a:rPr lang="fr-FR" sz="2000" b="1" dirty="0">
                <a:sym typeface="Wingdings" panose="05000000000000000000" pitchFamily="2" charset="2"/>
              </a:rPr>
              <a:t> du marché susceptibles de favoriser le développement de votre projet ? »</a:t>
            </a:r>
          </a:p>
          <a:p>
            <a:pPr>
              <a:lnSpc>
                <a:spcPct val="200000"/>
              </a:lnSpc>
            </a:pPr>
            <a:r>
              <a:rPr lang="fr-FR" sz="2000" b="1" dirty="0">
                <a:sym typeface="Wingdings" panose="05000000000000000000" pitchFamily="2" charset="2"/>
              </a:rPr>
              <a:t>« Quelles sont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les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menaces</a:t>
            </a:r>
            <a:r>
              <a:rPr lang="fr-FR" sz="2000" b="1" dirty="0">
                <a:sym typeface="Wingdings" panose="05000000000000000000" pitchFamily="2" charset="2"/>
              </a:rPr>
              <a:t> externes susceptibles de freiner ou de compromettre le développement de votre projet ? »</a:t>
            </a:r>
            <a:endParaRPr lang="fr-MA" sz="2000" b="1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DD383-D22A-FDA4-F1F9-DC1AA418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5228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F4D8-13CD-2225-1C0D-FF2E2845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3F78-7444-9660-169A-AD503D1B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du Rapport : Etude de Marché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AF55E-9B6E-D5E1-FB95-B975645F1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343820"/>
            <a:ext cx="12120880" cy="54959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MA" sz="2400" b="1" dirty="0"/>
              <a:t>Analyse des 5 forces de Porter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MA" sz="1800" b="1" i="1" dirty="0">
                <a:sym typeface="Wingdings" panose="05000000000000000000" pitchFamily="2" charset="2"/>
              </a:rPr>
              <a:t> Etablissez  votre analyse des 5F de Porter en répondant à ces questions :</a:t>
            </a:r>
            <a:endParaRPr lang="fr-FR" sz="1600" b="1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fr-FR" sz="1800" b="1" dirty="0">
                <a:sym typeface="Wingdings" panose="05000000000000000000" pitchFamily="2" charset="2"/>
              </a:rPr>
              <a:t>« Est-ce que </a:t>
            </a:r>
            <a:r>
              <a:rPr lang="fr-FR" sz="1800" b="1" dirty="0">
                <a:solidFill>
                  <a:schemeClr val="accent1"/>
                </a:solidFill>
                <a:sym typeface="Wingdings" panose="05000000000000000000" pitchFamily="2" charset="2"/>
              </a:rPr>
              <a:t>l’intensité de la concurrence </a:t>
            </a:r>
            <a:r>
              <a:rPr lang="fr-FR" sz="1800" b="1" dirty="0">
                <a:sym typeface="Wingdings" panose="05000000000000000000" pitchFamily="2" charset="2"/>
              </a:rPr>
              <a:t>sur le marché influence </a:t>
            </a:r>
            <a:r>
              <a:rPr lang="fr-FR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800" b="1" dirty="0">
                <a:sym typeface="Wingdings" panose="05000000000000000000" pitchFamily="2" charset="2"/>
              </a:rPr>
              <a:t> ou </a:t>
            </a:r>
            <a:r>
              <a:rPr lang="fr-FR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8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800" b="1" dirty="0">
                <a:sym typeface="Wingdings" panose="05000000000000000000" pitchFamily="2" charset="2"/>
              </a:rPr>
              <a:t>« Est-ce que </a:t>
            </a:r>
            <a:r>
              <a:rPr lang="fr-FR" sz="1800" b="1" dirty="0">
                <a:solidFill>
                  <a:schemeClr val="accent1"/>
                </a:solidFill>
                <a:sym typeface="Wingdings" panose="05000000000000000000" pitchFamily="2" charset="2"/>
              </a:rPr>
              <a:t>le pouvoir de négociation des clients </a:t>
            </a:r>
            <a:r>
              <a:rPr lang="fr-FR" sz="1800" b="1" dirty="0">
                <a:sym typeface="Wingdings" panose="05000000000000000000" pitchFamily="2" charset="2"/>
              </a:rPr>
              <a:t>influence </a:t>
            </a:r>
            <a:r>
              <a:rPr lang="fr-FR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800" b="1" dirty="0">
                <a:sym typeface="Wingdings" panose="05000000000000000000" pitchFamily="2" charset="2"/>
              </a:rPr>
              <a:t> ou </a:t>
            </a:r>
            <a:r>
              <a:rPr lang="fr-FR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8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800" b="1" dirty="0">
                <a:sym typeface="Wingdings" panose="05000000000000000000" pitchFamily="2" charset="2"/>
              </a:rPr>
              <a:t>« Est-ce que </a:t>
            </a:r>
            <a:r>
              <a:rPr lang="fr-FR" sz="1800" b="1" dirty="0">
                <a:solidFill>
                  <a:schemeClr val="accent1"/>
                </a:solidFill>
                <a:sym typeface="Wingdings" panose="05000000000000000000" pitchFamily="2" charset="2"/>
              </a:rPr>
              <a:t>le pouvoir de négociation des fournisseurs </a:t>
            </a:r>
            <a:r>
              <a:rPr lang="fr-FR" sz="1800" b="1" dirty="0">
                <a:sym typeface="Wingdings" panose="05000000000000000000" pitchFamily="2" charset="2"/>
              </a:rPr>
              <a:t>influence </a:t>
            </a:r>
            <a:r>
              <a:rPr lang="fr-FR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800" b="1" dirty="0">
                <a:sym typeface="Wingdings" panose="05000000000000000000" pitchFamily="2" charset="2"/>
              </a:rPr>
              <a:t> ou </a:t>
            </a:r>
            <a:r>
              <a:rPr lang="fr-FR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8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800" b="1" dirty="0">
                <a:sym typeface="Wingdings" panose="05000000000000000000" pitchFamily="2" charset="2"/>
              </a:rPr>
              <a:t>« Est-ce que </a:t>
            </a:r>
            <a:r>
              <a:rPr lang="fr-FR" sz="1800" b="1" dirty="0">
                <a:solidFill>
                  <a:schemeClr val="accent1"/>
                </a:solidFill>
                <a:sym typeface="Wingdings" panose="05000000000000000000" pitchFamily="2" charset="2"/>
              </a:rPr>
              <a:t>la menace de nouveaux entrants </a:t>
            </a:r>
            <a:r>
              <a:rPr lang="fr-FR" sz="1800" b="1" dirty="0">
                <a:sym typeface="Wingdings" panose="05000000000000000000" pitchFamily="2" charset="2"/>
              </a:rPr>
              <a:t>sur le marché influence </a:t>
            </a:r>
            <a:r>
              <a:rPr lang="fr-FR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800" b="1" dirty="0">
                <a:sym typeface="Wingdings" panose="05000000000000000000" pitchFamily="2" charset="2"/>
              </a:rPr>
              <a:t> ou </a:t>
            </a:r>
            <a:r>
              <a:rPr lang="fr-FR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800" b="1" dirty="0">
                <a:sym typeface="Wingdings" panose="05000000000000000000" pitchFamily="2" charset="2"/>
              </a:rPr>
              <a:t> votre projet ? »</a:t>
            </a:r>
          </a:p>
          <a:p>
            <a:pPr>
              <a:lnSpc>
                <a:spcPct val="150000"/>
              </a:lnSpc>
            </a:pPr>
            <a:r>
              <a:rPr lang="fr-FR" sz="1800" b="1" dirty="0">
                <a:sym typeface="Wingdings" panose="05000000000000000000" pitchFamily="2" charset="2"/>
              </a:rPr>
              <a:t>« Est-ce que </a:t>
            </a:r>
            <a:r>
              <a:rPr lang="fr-FR" sz="1800" b="1" dirty="0">
                <a:solidFill>
                  <a:schemeClr val="accent1"/>
                </a:solidFill>
                <a:sym typeface="Wingdings" panose="05000000000000000000" pitchFamily="2" charset="2"/>
              </a:rPr>
              <a:t>la menace des produits ou services de substitution </a:t>
            </a:r>
            <a:r>
              <a:rPr lang="fr-FR" sz="1800" b="1" dirty="0">
                <a:sym typeface="Wingdings" panose="05000000000000000000" pitchFamily="2" charset="2"/>
              </a:rPr>
              <a:t>influence </a:t>
            </a:r>
            <a:r>
              <a:rPr lang="fr-FR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positivement</a:t>
            </a:r>
            <a:r>
              <a:rPr lang="fr-FR" sz="1800" b="1" dirty="0">
                <a:sym typeface="Wingdings" panose="05000000000000000000" pitchFamily="2" charset="2"/>
              </a:rPr>
              <a:t> ou </a:t>
            </a:r>
            <a:r>
              <a:rPr lang="fr-FR" sz="1800" b="1" dirty="0">
                <a:solidFill>
                  <a:srgbClr val="C00000"/>
                </a:solidFill>
                <a:sym typeface="Wingdings" panose="05000000000000000000" pitchFamily="2" charset="2"/>
              </a:rPr>
              <a:t>négativement</a:t>
            </a:r>
            <a:r>
              <a:rPr lang="fr-FR" sz="1800" b="1" dirty="0">
                <a:sym typeface="Wingdings" panose="05000000000000000000" pitchFamily="2" charset="2"/>
              </a:rPr>
              <a:t> votre projet ? »</a:t>
            </a:r>
            <a:endParaRPr lang="fr-MA" sz="1800" b="1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0763C-30FC-6691-70BD-BF79C517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5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2427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C499-4D7F-ED8F-95BD-A37952CA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32E9-D2E3-40A7-1D7D-4689068D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325563"/>
          </a:xfrm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du Rapport : Etude de faisabilité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B1753-D9E5-AB3A-B0FC-A24DBBA8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343820"/>
            <a:ext cx="12120880" cy="54959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MA" b="1" dirty="0"/>
              <a:t>Etude Technique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MA" sz="2400" b="1" i="1" dirty="0">
                <a:sym typeface="Wingdings" panose="05000000000000000000" pitchFamily="2" charset="2"/>
              </a:rPr>
              <a:t> Etablissez  votre étude technique en répondant à ces questions :</a:t>
            </a:r>
            <a:endParaRPr lang="fr-FR" sz="2000" b="1" dirty="0"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 De quels </a:t>
            </a:r>
            <a:r>
              <a:rPr lang="fr-FR" sz="2400" b="1" dirty="0">
                <a:solidFill>
                  <a:schemeClr val="accent1"/>
                </a:solidFill>
              </a:rPr>
              <a:t>matériels informatiques </a:t>
            </a:r>
            <a:r>
              <a:rPr lang="fr-FR" sz="2400" b="1" dirty="0"/>
              <a:t>avez-vous besoin, et en quelles </a:t>
            </a:r>
            <a:r>
              <a:rPr lang="fr-FR" sz="2400" b="1" dirty="0">
                <a:solidFill>
                  <a:schemeClr val="accent6"/>
                </a:solidFill>
              </a:rPr>
              <a:t>quantités</a:t>
            </a:r>
            <a:r>
              <a:rPr lang="fr-FR" sz="2400" b="1" dirty="0"/>
              <a:t> ? »</a:t>
            </a:r>
            <a:br>
              <a:rPr lang="fr-FR" sz="2400" dirty="0"/>
            </a:br>
            <a:r>
              <a:rPr lang="fr-FR" sz="2400" b="1" dirty="0"/>
              <a:t>« De quels </a:t>
            </a:r>
            <a:r>
              <a:rPr lang="fr-FR" sz="2400" b="1" dirty="0">
                <a:solidFill>
                  <a:schemeClr val="accent1"/>
                </a:solidFill>
              </a:rPr>
              <a:t>profils</a:t>
            </a:r>
            <a:r>
              <a:rPr lang="fr-FR" sz="2400" b="1" dirty="0"/>
              <a:t> avez-vous besoin, et en quelles </a:t>
            </a:r>
            <a:r>
              <a:rPr lang="fr-FR" sz="2400" b="1" dirty="0">
                <a:solidFill>
                  <a:schemeClr val="accent6"/>
                </a:solidFill>
              </a:rPr>
              <a:t>quantités</a:t>
            </a:r>
            <a:r>
              <a:rPr lang="fr-FR" sz="2400" b="1" dirty="0"/>
              <a:t> ? »</a:t>
            </a:r>
            <a:br>
              <a:rPr lang="fr-FR" sz="2400" dirty="0"/>
            </a:br>
            <a:r>
              <a:rPr lang="fr-FR" sz="2400" b="1" dirty="0"/>
              <a:t>« De quels </a:t>
            </a:r>
            <a:r>
              <a:rPr lang="fr-FR" sz="2400" b="1" dirty="0">
                <a:solidFill>
                  <a:schemeClr val="accent1"/>
                </a:solidFill>
              </a:rPr>
              <a:t>autres matériels </a:t>
            </a:r>
            <a:r>
              <a:rPr lang="fr-FR" sz="2400" b="1" dirty="0"/>
              <a:t>avez-vous besoin, et en quelles </a:t>
            </a:r>
            <a:r>
              <a:rPr lang="fr-FR" sz="2400" b="1" dirty="0">
                <a:solidFill>
                  <a:schemeClr val="accent6"/>
                </a:solidFill>
              </a:rPr>
              <a:t>quantités</a:t>
            </a:r>
            <a:r>
              <a:rPr lang="fr-FR" sz="2400" b="1" dirty="0"/>
              <a:t> ? »</a:t>
            </a:r>
            <a:endParaRPr lang="fr-MA" sz="2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FF220-1795-10D2-5948-7063A631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6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7064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19B77-6C4B-187A-374E-CAC13001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7</a:t>
            </a:fld>
            <a:endParaRPr lang="fr-M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2EDE-0123-8594-2EDC-0D785C61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67415"/>
            <a:ext cx="10495280" cy="679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1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3376-6A31-6089-9B51-B29568FC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05B2-96A6-9719-3A72-7197BD8D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325563"/>
          </a:xfrm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du Rapport : Etude de faisabilité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F9F27-BF5B-1B6B-987C-01D6D6C2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343820"/>
            <a:ext cx="12120880" cy="54959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MA" b="1" dirty="0"/>
              <a:t>Etude commerciale &amp; Marketing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MA" sz="2400" b="1" i="1" dirty="0">
                <a:sym typeface="Wingdings" panose="05000000000000000000" pitchFamily="2" charset="2"/>
              </a:rPr>
              <a:t>Etablissez  votre étude commerciale en répondant à ces questions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 Quelle </a:t>
            </a:r>
            <a:r>
              <a:rPr lang="fr-FR" sz="2400" b="1" dirty="0">
                <a:solidFill>
                  <a:schemeClr val="accent1"/>
                </a:solidFill>
              </a:rPr>
              <a:t>politique prix </a:t>
            </a:r>
            <a:r>
              <a:rPr lang="fr-FR" sz="2400" b="1" dirty="0"/>
              <a:t>vous souhaitez appliquer ? » (ex. Prix fixe, Abonnement, gratuit…)</a:t>
            </a:r>
            <a:br>
              <a:rPr lang="fr-FR" sz="2400" dirty="0"/>
            </a:br>
            <a:r>
              <a:rPr lang="fr-FR" sz="2400" b="1" dirty="0"/>
              <a:t>«Quelle </a:t>
            </a:r>
            <a:r>
              <a:rPr lang="fr-FR" sz="2400" b="1" dirty="0">
                <a:solidFill>
                  <a:schemeClr val="accent1"/>
                </a:solidFill>
              </a:rPr>
              <a:t>politique </a:t>
            </a:r>
            <a:r>
              <a:rPr lang="fr-FR" sz="2400" b="1" i="1" dirty="0">
                <a:solidFill>
                  <a:schemeClr val="accent1"/>
                </a:solidFill>
              </a:rPr>
              <a:t>place</a:t>
            </a:r>
            <a:r>
              <a:rPr lang="fr-FR" sz="2400" b="1" dirty="0">
                <a:solidFill>
                  <a:schemeClr val="accent1"/>
                </a:solidFill>
              </a:rPr>
              <a:t> </a:t>
            </a:r>
            <a:r>
              <a:rPr lang="fr-FR" sz="2400" b="1" dirty="0"/>
              <a:t>vous souhaitez appliquer ? » (ex. SAAS sans déplacement, SAAS qui nécessite un déplacement auprès des agents, etc …)</a:t>
            </a:r>
            <a:br>
              <a:rPr lang="fr-FR" sz="2400" dirty="0"/>
            </a:br>
            <a:r>
              <a:rPr lang="fr-FR" sz="2400" b="1" dirty="0"/>
              <a:t>«Quelle </a:t>
            </a:r>
            <a:r>
              <a:rPr lang="fr-FR" sz="2400" b="1" dirty="0">
                <a:solidFill>
                  <a:schemeClr val="accent1"/>
                </a:solidFill>
              </a:rPr>
              <a:t>politique </a:t>
            </a:r>
            <a:r>
              <a:rPr lang="fr-FR" sz="2400" b="1" i="1" dirty="0">
                <a:solidFill>
                  <a:schemeClr val="accent1"/>
                </a:solidFill>
              </a:rPr>
              <a:t>promotion</a:t>
            </a:r>
            <a:r>
              <a:rPr lang="fr-FR" sz="2400" b="1" dirty="0">
                <a:solidFill>
                  <a:schemeClr val="accent1"/>
                </a:solidFill>
              </a:rPr>
              <a:t> </a:t>
            </a:r>
            <a:r>
              <a:rPr lang="fr-FR" sz="2400" b="1" dirty="0"/>
              <a:t>vous souhaitez appliquer ? » (ex. publicité en ligne / offline etc…)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«Quelle </a:t>
            </a:r>
            <a:r>
              <a:rPr lang="fr-FR" sz="2400" b="1" dirty="0">
                <a:solidFill>
                  <a:schemeClr val="accent1"/>
                </a:solidFill>
              </a:rPr>
              <a:t>politique produit </a:t>
            </a:r>
            <a:r>
              <a:rPr lang="fr-FR" sz="2400" b="1" dirty="0"/>
              <a:t>vous souhaitez appliquer ? » (ex. Saas, Iaas, Baas etc…)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400" b="1" dirty="0"/>
          </a:p>
          <a:p>
            <a:pPr marL="0" indent="0">
              <a:lnSpc>
                <a:spcPct val="150000"/>
              </a:lnSpc>
              <a:buNone/>
            </a:pPr>
            <a:endParaRPr lang="fr-MA" sz="2400" b="1" i="1" dirty="0">
              <a:sym typeface="Wingdings" panose="05000000000000000000" pitchFamily="2" charset="2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4CA2C-BBF5-02CE-40FD-B57AA3A9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07464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6D766-39DC-C99B-AEE3-3B846412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9</a:t>
            </a:fld>
            <a:endParaRPr lang="fr-M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25EBDA-953B-14A3-C1F4-B7DCF0ADDC92}"/>
              </a:ext>
            </a:extLst>
          </p:cNvPr>
          <p:cNvSpPr txBox="1"/>
          <p:nvPr/>
        </p:nvSpPr>
        <p:spPr>
          <a:xfrm>
            <a:off x="436880" y="4125611"/>
            <a:ext cx="1115568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MA" dirty="0"/>
              <a:t>* Est-ce que l’élaboration de votre projet vous a poussé à acquérir un outil spécifique ? (par exemple, pour créer des contenus visuels, vous avez acheté une caméra professionnelle)</a:t>
            </a:r>
          </a:p>
          <a:p>
            <a:pPr>
              <a:lnSpc>
                <a:spcPct val="200000"/>
              </a:lnSpc>
            </a:pPr>
            <a:r>
              <a:rPr lang="fr-MA" dirty="0"/>
              <a:t>** Est-ce que l'élaboration du projet vous a poussé à acheter un service  spécifique  (par exemple, pour créer un site web, vous achetez un nom de domaine)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4F8ED-1BDD-0A55-0FDD-811D899E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22" y="937930"/>
            <a:ext cx="11496556" cy="249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96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6028-9093-56DB-661F-5FC9FB57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5126-CB39-572F-8FCB-E438687D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325563"/>
          </a:xfrm>
          <a:solidFill>
            <a:srgbClr val="7E0000"/>
          </a:solidFill>
        </p:spPr>
        <p:txBody>
          <a:bodyPr/>
          <a:lstStyle/>
          <a:p>
            <a:pPr algn="ctr"/>
            <a:r>
              <a:rPr lang="fr-MA" b="1" dirty="0">
                <a:solidFill>
                  <a:schemeClr val="bg1"/>
                </a:solidFill>
              </a:rPr>
              <a:t>Contenu du Rapport : Etude de faisabilité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00384-26C6-CF16-A72B-CE0AACEC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343820"/>
            <a:ext cx="12120880" cy="549592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MA" b="1" dirty="0"/>
              <a:t>Etude financière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fr-MA" sz="2400" b="1" i="1" dirty="0">
                <a:sym typeface="Wingdings" panose="05000000000000000000" pitchFamily="2" charset="2"/>
              </a:rPr>
              <a:t>Etablissez  votre étude financière en répondant à ces questions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 Quel est votre budget de prospection semestriel ? 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 Combien de prospects ciblez-vous sur cette période ? 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 Quel est votre taux de conversion ? » </a:t>
            </a:r>
            <a:r>
              <a:rPr lang="fr-FR" sz="2400" i="1" dirty="0"/>
              <a:t>(Taux de conversion = Nombre de personnes ayant effectué un achat / Nombre total de personnes ciblées par la publicité)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« Quel est votre taux de churn semestriel ? » </a:t>
            </a:r>
            <a:r>
              <a:rPr lang="fr-FR" sz="2400" i="1" dirty="0"/>
              <a:t>(Taux de churn = Nombre de personnes ayant abandonné l’usage du service / Nombre total de personnes utilisant le service au début de la période)</a:t>
            </a:r>
            <a:endParaRPr lang="fr-MA" sz="2400" i="1" dirty="0">
              <a:sym typeface="Wingdings" panose="05000000000000000000" pitchFamily="2" charset="2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F1106-21B0-7A09-C88B-D382E84D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10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290478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A40C1-EDFF-F372-EE07-DC9FF21B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95DF-1EF6-4F45-8E4F-2DD0304F7EA7}" type="slidenum">
              <a:rPr lang="fr-MA" smtClean="0"/>
              <a:t>11</a:t>
            </a:fld>
            <a:endParaRPr lang="fr-M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61F56B-35BD-178C-45C2-E404A346C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98" y="2125821"/>
            <a:ext cx="11600888" cy="352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9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727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Aharoni</vt:lpstr>
      <vt:lpstr>Arial</vt:lpstr>
      <vt:lpstr>Calibri</vt:lpstr>
      <vt:lpstr>Calibri Light</vt:lpstr>
      <vt:lpstr>Wingdings</vt:lpstr>
      <vt:lpstr>Office Theme</vt:lpstr>
      <vt:lpstr>Guide étudiant Contenu du Rapport de la Présentation du PFA</vt:lpstr>
      <vt:lpstr>Contenu de Rapport et de la présentation </vt:lpstr>
      <vt:lpstr>Contenu du Rapport : Etude de Marché</vt:lpstr>
      <vt:lpstr>Contenu du Rapport : Etude de Marché</vt:lpstr>
      <vt:lpstr>Contenu du Rapport : Etude de Marché</vt:lpstr>
      <vt:lpstr>Contenu du Rapport : Etude de faisabilité</vt:lpstr>
      <vt:lpstr>PowerPoint Presentation</vt:lpstr>
      <vt:lpstr>Contenu du Rapport : Etude de faisabilité</vt:lpstr>
      <vt:lpstr>PowerPoint Presentation</vt:lpstr>
      <vt:lpstr>Contenu du Rapport : Etude de faisabilité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EMSI</dc:creator>
  <cp:lastModifiedBy>brahim sabiri</cp:lastModifiedBy>
  <cp:revision>9</cp:revision>
  <dcterms:created xsi:type="dcterms:W3CDTF">2026-04-28T19:35:39Z</dcterms:created>
  <dcterms:modified xsi:type="dcterms:W3CDTF">2026-05-01T17:32:04Z</dcterms:modified>
</cp:coreProperties>
</file>
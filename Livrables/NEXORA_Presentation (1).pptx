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6C3D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NEXORA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5DE5"/>
                </a:solidFill>
              </a:rPr>
              <a:t>Plateforme d'Intelligence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B5DE5"/>
                </a:solidFill>
              </a:rPr>
              <a:t>Organisationnelle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502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AA"/>
                </a:solidFill>
              </a:rPr>
              <a:t>Rapport de Projet de Fin d'Année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8AA"/>
                </a:solidFill>
              </a:rPr>
              <a:t>EMSI — École Marocaine des Sciences de l'Ingénieur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329184" cy="329184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914400"/>
            <a:ext cx="237744" cy="237744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822960"/>
            <a:ext cx="182880" cy="182880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1463040"/>
            <a:ext cx="219456" cy="219456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164592" cy="164592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920240"/>
            <a:ext cx="201168" cy="201168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828800"/>
            <a:ext cx="5029200" cy="530352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828800"/>
            <a:ext cx="54864" cy="53035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1901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Réalisé par: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77640" y="20848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Soubaibi Omar &amp; Yassine Baizi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2487168"/>
            <a:ext cx="5029200" cy="530352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2487168"/>
            <a:ext cx="54864" cy="53035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560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Encadrante: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77640" y="27432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Mme. Ounacer Soumaya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0" y="3145536"/>
            <a:ext cx="5029200" cy="530352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3145536"/>
            <a:ext cx="54864" cy="53035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32186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Filière: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77640" y="34015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4IADM G5-A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0" y="3803904"/>
            <a:ext cx="5029200" cy="530352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3803904"/>
            <a:ext cx="54864" cy="53035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3877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Année Univ.: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77640" y="40599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2025–2026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Intelligence Organisationnelle  |  2025–2026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7498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74980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3DE8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Contexte &amp; Problématique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Silos d'information, défis organisationnels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7498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60120"/>
            <a:ext cx="54864" cy="74980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33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DE5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033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État de l'Art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Bases graphe, frameworks, solutions existantes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4023360" cy="7498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920240"/>
            <a:ext cx="54864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1993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 du Système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258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3-tiers, API-First, Docker Compose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023360" cy="7498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920240"/>
            <a:ext cx="54864" cy="7498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6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1993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Gestion de Projet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258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Gantt, PERT, RACI, Sprints, KPI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4023360" cy="7498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80360"/>
            <a:ext cx="54864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535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Études Stratégiques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PESTEL, SWOT, Porter, Business Model Canvas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023360" cy="7498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880360"/>
            <a:ext cx="54864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535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Conception &amp; Implémentation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Neo4j, FastAPI, React 18, Modules ML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840480"/>
            <a:ext cx="4023360" cy="7498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840480"/>
            <a:ext cx="54864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13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400" y="39136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Fonctionnalités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178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Dashboard, Experts, Veda, Messagerie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023360" cy="7498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840480"/>
            <a:ext cx="54864" cy="74980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913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3DE8"/>
                </a:solidFill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39136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Sécurité &amp; Conclusion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178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JWT, RBAC, Bilan, Perspectives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Pourquoi NEXORA 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914400"/>
            <a:ext cx="2651760" cy="1325880"/>
          </a:xfrm>
          <a:prstGeom prst="rect">
            <a:avLst/>
          </a:prstGeom>
          <a:solidFill>
            <a:srgbClr val="1E1E3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9875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des entreprises peinent à identifier leurs experts internes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651760" cy="1325880"/>
          </a:xfrm>
          <a:prstGeom prst="rect">
            <a:avLst/>
          </a:prstGeom>
          <a:solidFill>
            <a:srgbClr val="1E1E3A"/>
          </a:solidFill>
          <a:ln w="1905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9875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3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9184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de productivité perdue à cause des silos d'information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914400"/>
            <a:ext cx="2651760" cy="1325880"/>
          </a:xfrm>
          <a:prstGeom prst="rect">
            <a:avLst/>
          </a:prstGeom>
          <a:solidFill>
            <a:srgbClr val="1E1E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9875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2x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1572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plus de temps pour constituer des équipes sans outil dédié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DE8"/>
                </a:solidFill>
              </a:rPr>
              <a:t>Problèmes identifiés 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54864" cy="3200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Compétences dispersées dans des systèmes hétérogènes (SIRH, gestion de projets, messageries)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54864" cy="3200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Identification d'experts reposant sur des réseaux informels et connaissances tacites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54864" cy="3200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Absence de mécanismes efficaces de recommandation et de découverte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54864" cy="3200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Difficulté à anticiper les besoins en compétences et capitaliser sur la documentation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331720"/>
            <a:ext cx="4114800" cy="2423160"/>
          </a:xfrm>
          <a:prstGeom prst="rect">
            <a:avLst/>
          </a:prstGeom>
          <a:solidFill>
            <a:srgbClr val="1E1E3A"/>
          </a:solidFill>
          <a:ln w="1270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DE8"/>
                </a:solidFill>
              </a:rPr>
              <a:t>Approche proposée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788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🗺  Graphe de connaissances Neo4j pour modéliser les relations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182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🤖  Algorithmes ML : PageRank, TF-IDF, filtrage collaboratif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575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📊  Big Data : PySpark batch + simulateur Kafka streaming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39684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💬  Chatbot IA Veda (Groq LLM + fallback rule-based)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361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🔒  Sécurité JWT + RBAC avec déploiement Docker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État de l'Art &amp; Positionnement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Comparaison des solutions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Base Relationnelle vs Base Graphe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SQL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Neo4j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E8F5"/>
                          </a:solidFill>
                        </a:rPr>
                        <a:t>Modèle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Tables, jointures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Nœuds + relations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E8F5"/>
                          </a:solidFill>
                        </a:rPr>
                        <a:t>Traversées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Coûteux (multi-JOIN)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Natif (index-free)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E8F5"/>
                          </a:solidFill>
                        </a:rPr>
                        <a:t>Chemins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Non naturel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Cypher expressif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E8F5"/>
                          </a:solidFill>
                        </a:rPr>
                        <a:t>Analytics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Externe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Centralité, PageRank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E8F5"/>
                          </a:solidFill>
                        </a:rPr>
                        <a:t>Cas d'usage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Transactions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Recommandation, IA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DE8"/>
                </a:solidFill>
              </a:rPr>
              <a:t>Pourquoi Neo4j pour NEXORA 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3273552"/>
            <a:ext cx="109728" cy="109728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2369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Index-free adjacency — navigation directe entre nœuds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" y="3657600"/>
            <a:ext cx="109728" cy="109728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621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Cypher — langage déclaratif pour requêtes graphe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4041648"/>
            <a:ext cx="109728" cy="109728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005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APOC — procédures et fonctions étendues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" y="4425696"/>
            <a:ext cx="109728" cy="109728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389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Calculs de centralité et détection de communautés natifs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Solutions Concurrentes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1261872"/>
            <a:ext cx="3383280" cy="502920"/>
          </a:xfrm>
          <a:prstGeom prst="rect">
            <a:avLst/>
          </a:prstGeom>
          <a:solidFill>
            <a:srgbClr val="1E1E3A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77840" y="1316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365Talents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77840" y="15179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Graphe non explicitable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0" y="1874520"/>
            <a:ext cx="3383280" cy="502920"/>
          </a:xfrm>
          <a:prstGeom prst="rect">
            <a:avLst/>
          </a:prstGeom>
          <a:solidFill>
            <a:srgbClr val="1E1E3A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1929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Workday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577840" y="21305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Écosystème propriétaire fermé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486400" y="2487168"/>
            <a:ext cx="3383280" cy="502920"/>
          </a:xfrm>
          <a:prstGeom prst="rect">
            <a:avLst/>
          </a:prstGeom>
          <a:solidFill>
            <a:srgbClr val="1E1E3A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2542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Cornerstone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577840" y="2743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Peu orienté cartographie IA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0" y="3099816"/>
            <a:ext cx="3383280" cy="502920"/>
          </a:xfrm>
          <a:prstGeom prst="rect">
            <a:avLst/>
          </a:prstGeom>
          <a:solidFill>
            <a:srgbClr val="1E1E3A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3154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LinkedIn TI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57784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Pas de cartographie interne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0" y="3712464"/>
            <a:ext cx="3383280" cy="502920"/>
          </a:xfrm>
          <a:prstGeom prst="rect">
            <a:avLst/>
          </a:prstGeom>
          <a:solidFill>
            <a:srgbClr val="1E1E3A"/>
          </a:solidFill>
          <a:ln w="6350">
            <a:solidFill>
              <a:srgbClr val="8888A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77840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AA"/>
                </a:solidFill>
              </a:rPr>
              <a:t>Skills Base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577840" y="39684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Déclaratif, peu orienté IA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486400" y="4325112"/>
            <a:ext cx="3383280" cy="502920"/>
          </a:xfrm>
          <a:prstGeom prst="rect">
            <a:avLst/>
          </a:prstGeom>
          <a:solidFill>
            <a:srgbClr val="1E1E3A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77840" y="43799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NEXORA ✓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577840" y="4581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Graphe explicite + IA hybride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du Système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3-Tiers · API-First · Docker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2743200" cy="2286000"/>
          </a:xfrm>
          <a:prstGeom prst="rect">
            <a:avLst/>
          </a:prstGeom>
          <a:solidFill>
            <a:srgbClr val="1E1E3A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68680"/>
            <a:ext cx="274320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869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  FRONTEND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React 18 +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MUI · Vite · WebGL 3D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743200" cy="2286000"/>
          </a:xfrm>
          <a:prstGeom prst="rect">
            <a:avLst/>
          </a:prstGeom>
          <a:solidFill>
            <a:srgbClr val="1E1E3A"/>
          </a:solidFill>
          <a:ln w="2540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68680"/>
            <a:ext cx="2743200" cy="4572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8869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  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FastAPI + Python 3.11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ML · Auth · WebSocket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868680"/>
            <a:ext cx="2743200" cy="2286000"/>
          </a:xfrm>
          <a:prstGeom prst="rect">
            <a:avLst/>
          </a:prstGeom>
          <a:solidFill>
            <a:srgbClr val="1E1E3A"/>
          </a:solidFill>
          <a:ln w="254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868680"/>
            <a:ext cx="2743200" cy="457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8869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  DONNÉES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Neo4j 5 + JSONL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Spark Outputs · APOC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17520" y="2011680"/>
            <a:ext cx="228600" cy="0"/>
          </a:xfrm>
          <a:prstGeom prst="line">
            <a:avLst/>
          </a:prstGeom>
          <a:noFill/>
          <a:ln w="25400">
            <a:solidFill>
              <a:srgbClr val="6C3DE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857500" y="1874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HTTP/WS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989320" y="2011680"/>
            <a:ext cx="228600" cy="0"/>
          </a:xfrm>
          <a:prstGeom prst="line">
            <a:avLst/>
          </a:prstGeom>
          <a:noFill/>
          <a:ln w="25400">
            <a:solidFill>
              <a:srgbClr val="6C3DE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829300" y="1874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HTTP/WS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4612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DE5"/>
                </a:solidFill>
              </a:rPr>
              <a:t>Modules ML / IA 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547872"/>
            <a:ext cx="1280160" cy="320040"/>
          </a:xfrm>
          <a:prstGeom prst="rect">
            <a:avLst/>
          </a:prstGeom>
          <a:solidFill>
            <a:srgbClr val="12122B"/>
          </a:solidFill>
          <a:ln w="6350">
            <a:solidFill>
              <a:srgbClr val="9B5D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3566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PageRank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3931920"/>
            <a:ext cx="1280160" cy="320040"/>
          </a:xfrm>
          <a:prstGeom prst="rect">
            <a:avLst/>
          </a:prstGeom>
          <a:solidFill>
            <a:srgbClr val="12122B"/>
          </a:solidFill>
          <a:ln w="6350">
            <a:solidFill>
              <a:srgbClr val="9B5D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39502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TF-IDF + cosinus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46120" y="4315968"/>
            <a:ext cx="1280160" cy="320040"/>
          </a:xfrm>
          <a:prstGeom prst="rect">
            <a:avLst/>
          </a:prstGeom>
          <a:solidFill>
            <a:srgbClr val="12122B"/>
          </a:solidFill>
          <a:ln w="6350">
            <a:solidFill>
              <a:srgbClr val="9B5D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4334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Filtrage collaboratif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17720" y="3547872"/>
            <a:ext cx="1280160" cy="320040"/>
          </a:xfrm>
          <a:prstGeom prst="rect">
            <a:avLst/>
          </a:prstGeom>
          <a:solidFill>
            <a:srgbClr val="12122B"/>
          </a:solidFill>
          <a:ln w="6350">
            <a:solidFill>
              <a:srgbClr val="9B5D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3566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Classif. logistique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3931920"/>
            <a:ext cx="1280160" cy="320040"/>
          </a:xfrm>
          <a:prstGeom prst="rect">
            <a:avLst/>
          </a:prstGeom>
          <a:solidFill>
            <a:srgbClr val="12122B"/>
          </a:solidFill>
          <a:ln w="6350">
            <a:solidFill>
              <a:srgbClr val="9B5D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39502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Groq LLM (Veda)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17720" y="4315968"/>
            <a:ext cx="1280160" cy="320040"/>
          </a:xfrm>
          <a:prstGeom prst="rect">
            <a:avLst/>
          </a:prstGeom>
          <a:solidFill>
            <a:srgbClr val="12122B"/>
          </a:solidFill>
          <a:ln w="6350">
            <a:solidFill>
              <a:srgbClr val="9B5D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4334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GraphRAG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17 pages frontend 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5661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575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Feed · Dashboard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7947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8039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GraphViz 3D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0233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325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Expert Search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2519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2611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Messaging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44805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4897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Team Builder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7091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718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Workspace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1792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</a:rPr>
              <a:t>19 routers backend 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35661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B4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575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auth · experts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17920" y="37947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B4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38039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graphe · documents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17920" y="40233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B4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40325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AI · bigdata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17920" y="42519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B4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42611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messaging · ws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17920" y="44805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B4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44897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notifications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4709160"/>
            <a:ext cx="2651760" cy="201168"/>
          </a:xfrm>
          <a:prstGeom prst="rect">
            <a:avLst/>
          </a:prstGeom>
          <a:solidFill>
            <a:srgbClr val="12122B"/>
          </a:solidFill>
          <a:ln w="3810">
            <a:solidFill>
              <a:srgbClr val="00B4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4718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gamification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Schéma de Données — Graphe Neo4j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Modèle relationnel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1005840"/>
            <a:ext cx="2377440" cy="2194560"/>
          </a:xfrm>
          <a:prstGeom prst="rect">
            <a:avLst/>
          </a:prstGeom>
          <a:solidFill>
            <a:srgbClr val="1A237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005840"/>
            <a:ext cx="2377440" cy="347472"/>
          </a:xfrm>
          <a:prstGeom prst="rect">
            <a:avLst/>
          </a:prstGeom>
          <a:solidFill>
            <a:srgbClr val="3949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241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399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id : String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1618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name : String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18379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email : String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department : String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2276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role : String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2496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experience_years : Int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" y="27157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expertise_level : String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" y="2935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skills : List&lt;String&gt;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66160" y="2560320"/>
            <a:ext cx="2377440" cy="2011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66160" y="2560320"/>
            <a:ext cx="237744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5786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29535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id · name · domain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0" y="3200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status · priority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0" y="34472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budget : Float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0" y="36941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tech_stack : List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0" y="3941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required_skills : List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0" y="4187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team_members : List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1005840"/>
            <a:ext cx="2560320" cy="1828800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005840"/>
            <a:ext cx="256032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024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1417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id · title · type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topic · content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09360" y="19110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author · date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09360" y="21579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views : Integer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9360" y="24048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rating : Float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14400" y="3429000"/>
            <a:ext cx="2194560" cy="1371600"/>
          </a:xfrm>
          <a:prstGeom prst="rect">
            <a:avLst/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4400" y="3429000"/>
            <a:ext cx="2194560" cy="347472"/>
          </a:xfrm>
          <a:prstGeom prst="rect">
            <a:avLst/>
          </a:prstGeom>
          <a:solidFill>
            <a:srgbClr val="E64A1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4472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05840" y="3822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id · name · category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05840" y="4069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level : String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05840" y="4315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demand : Integer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2103120"/>
            <a:ext cx="274320" cy="45720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0" y="23774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96"/>
                </a:solidFill>
              </a:rPr>
              <a:t>WORKS_ON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1828800"/>
            <a:ext cx="2926080" cy="0"/>
          </a:xfrm>
          <a:prstGeom prst="line">
            <a:avLst/>
          </a:prstGeom>
          <a:noFill/>
          <a:ln w="19050">
            <a:solidFill>
              <a:srgbClr val="9B5DE5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572000" y="1691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5DE5"/>
                </a:solidFill>
              </a:rPr>
              <a:t>AUTHORED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737360" y="3200400"/>
            <a:ext cx="0" cy="22860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0" y="3200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HAS_SKILL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566160" y="4114800"/>
            <a:ext cx="-457200" cy="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0" y="4005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REQUIRES_SKILL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7432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KNOWS ↺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ML &amp; Intelligence Artificielle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9 modules · Hybride · Fallback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1188720" cy="1005840"/>
          </a:xfrm>
          <a:prstGeom prst="rect">
            <a:avLst/>
          </a:prstGeom>
          <a:solidFill>
            <a:srgbClr val="1E1E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896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12527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JSONL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Ingestion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63040" y="1371600"/>
            <a:ext cx="246888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9928" y="868680"/>
            <a:ext cx="1188720" cy="1005840"/>
          </a:xfrm>
          <a:prstGeom prst="rect">
            <a:avLst/>
          </a:prstGeom>
          <a:solidFill>
            <a:srgbClr val="1E1E3A"/>
          </a:solidFill>
          <a:ln w="1905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09928" y="896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09928" y="12527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A6"/>
                </a:solidFill>
              </a:rPr>
              <a:t>Prétraitement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4A6"/>
                </a:solidFill>
              </a:rPr>
              <a:t>Normalisation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98648" y="1371600"/>
            <a:ext cx="246888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45536" y="868680"/>
            <a:ext cx="1188720" cy="1005840"/>
          </a:xfrm>
          <a:prstGeom prst="rect">
            <a:avLst/>
          </a:prstGeom>
          <a:solidFill>
            <a:srgbClr val="1E1E3A"/>
          </a:solidFill>
          <a:ln w="1905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45536" y="896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45536" y="12527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3DE8"/>
                </a:solidFill>
              </a:rPr>
              <a:t>Entraînement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6C3DE8"/>
                </a:solidFill>
              </a:rPr>
              <a:t>Modèles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34256" y="1371600"/>
            <a:ext cx="246888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1144" y="868680"/>
            <a:ext cx="1188720" cy="1005840"/>
          </a:xfrm>
          <a:prstGeom prst="rect">
            <a:avLst/>
          </a:prstGeom>
          <a:solidFill>
            <a:srgbClr val="1E1E3A"/>
          </a:solidFill>
          <a:ln w="1905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81144" y="896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81144" y="12527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DE5"/>
                </a:solidFill>
              </a:rPr>
              <a:t>Cache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B5DE5"/>
                </a:solidFill>
              </a:rPr>
              <a:t>Modèle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69864" y="1371600"/>
            <a:ext cx="246888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6752" y="868680"/>
            <a:ext cx="1188720" cy="1005840"/>
          </a:xfrm>
          <a:prstGeom prst="rect">
            <a:avLst/>
          </a:prstGeom>
          <a:solidFill>
            <a:srgbClr val="1E1E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16752" y="896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16752" y="12527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</a:rPr>
              <a:t>Prédiction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</a:rPr>
              <a:t>Scoring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05472" y="1371600"/>
            <a:ext cx="246888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868680"/>
            <a:ext cx="1188720" cy="1005840"/>
          </a:xfrm>
          <a:prstGeom prst="rect">
            <a:avLst/>
          </a:prstGeom>
          <a:solidFill>
            <a:srgbClr val="1E1E3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896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52360" y="12527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API REST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Résultats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DE8"/>
                </a:solidFill>
              </a:rPr>
              <a:t>Algorithmes &amp; Modules IA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377440"/>
            <a:ext cx="4023360" cy="658368"/>
          </a:xfrm>
          <a:prstGeom prst="rect">
            <a:avLst/>
          </a:prstGeom>
          <a:solidFill>
            <a:srgbClr val="1E1E3A"/>
          </a:solidFill>
          <a:ln w="10160">
            <a:solidFill>
              <a:srgbClr val="6C3D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377440"/>
            <a:ext cx="54864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441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DE8"/>
                </a:solidFill>
              </a:rPr>
              <a:t>PageRank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Centralité experts dans le graphe — score d'influence organisationnelle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17720" y="2377440"/>
            <a:ext cx="4023360" cy="658368"/>
          </a:xfrm>
          <a:prstGeom prst="rect">
            <a:avLst/>
          </a:prstGeom>
          <a:solidFill>
            <a:srgbClr val="1E1E3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2377440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441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TF-IDF + Cosinus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Recherche sémantique d'experts et documents par similarité vectorielle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154680"/>
            <a:ext cx="4023360" cy="658368"/>
          </a:xfrm>
          <a:prstGeom prst="rect">
            <a:avLst/>
          </a:prstGeom>
          <a:solidFill>
            <a:srgbClr val="1E1E3A"/>
          </a:solidFill>
          <a:ln w="10160">
            <a:solidFill>
              <a:srgbClr val="00B4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154680"/>
            <a:ext cx="54864" cy="65836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218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</a:rPr>
              <a:t>Filtrage Collaboratif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" y="3438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Recommandation personnalisée basée sur les profils similaires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3154680"/>
            <a:ext cx="4023360" cy="658368"/>
          </a:xfrm>
          <a:prstGeom prst="rect">
            <a:avLst/>
          </a:prstGeom>
          <a:solidFill>
            <a:srgbClr val="1E1E3A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3154680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218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Régression Logistique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3438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Classification documentaire par thématique automatique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3931920"/>
            <a:ext cx="4023360" cy="658368"/>
          </a:xfrm>
          <a:prstGeom prst="rect">
            <a:avLst/>
          </a:prstGeom>
          <a:solidFill>
            <a:srgbClr val="1E1E3A"/>
          </a:solidFill>
          <a:ln w="10160">
            <a:solidFill>
              <a:srgbClr val="9B5D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3931920"/>
            <a:ext cx="54864" cy="65836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3995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DE5"/>
                </a:solidFill>
              </a:rPr>
              <a:t>Groq LLM (Veda)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1480" y="4215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Chatbot conversationnel — accès naturel à la connaissance interne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17720" y="3931920"/>
            <a:ext cx="4023360" cy="658368"/>
          </a:xfrm>
          <a:prstGeom prst="rect">
            <a:avLst/>
          </a:prstGeom>
          <a:solidFill>
            <a:srgbClr val="1E1E3A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17720" y="3931920"/>
            <a:ext cx="54864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995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GraphRAG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54880" y="42153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Retrieval-Augmented Generation combinant graphe + LLM pour contexte riche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029200" y="2057400"/>
            <a:ext cx="3840480" cy="274320"/>
          </a:xfrm>
          <a:prstGeom prst="rect">
            <a:avLst/>
          </a:prstGeom>
          <a:solidFill>
            <a:srgbClr val="3322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2075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⚠️  Mécanismes de fallback : JSONL (si Neo4j indisponible) · Rule-based (si Groq indisponible)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Gestion de Projet — Diagramme de Gantt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Planification &amp; Suivi · 7 semaines réelles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822960"/>
            <a:ext cx="6126480" cy="256032"/>
          </a:xfrm>
          <a:prstGeom prst="rect">
            <a:avLst/>
          </a:prstGeom>
          <a:solidFill>
            <a:srgbClr val="12122B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841248"/>
            <a:ext cx="875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S1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822960"/>
            <a:ext cx="0" cy="4114800"/>
          </a:xfrm>
          <a:prstGeom prst="line">
            <a:avLst/>
          </a:prstGeom>
          <a:noFill/>
          <a:ln w="6350">
            <a:solidFill>
              <a:srgbClr val="2E2E5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618411" y="841248"/>
            <a:ext cx="875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S2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8411" y="822960"/>
            <a:ext cx="0" cy="4114800"/>
          </a:xfrm>
          <a:prstGeom prst="line">
            <a:avLst/>
          </a:prstGeom>
          <a:noFill/>
          <a:ln w="6350">
            <a:solidFill>
              <a:srgbClr val="2E2E5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493623" y="841248"/>
            <a:ext cx="875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S3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93623" y="822960"/>
            <a:ext cx="0" cy="4114800"/>
          </a:xfrm>
          <a:prstGeom prst="line">
            <a:avLst/>
          </a:prstGeom>
          <a:noFill/>
          <a:ln w="6350">
            <a:solidFill>
              <a:srgbClr val="2E2E5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368834" y="841248"/>
            <a:ext cx="875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S4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68834" y="822960"/>
            <a:ext cx="0" cy="4114800"/>
          </a:xfrm>
          <a:prstGeom prst="line">
            <a:avLst/>
          </a:prstGeom>
          <a:noFill/>
          <a:ln w="6350">
            <a:solidFill>
              <a:srgbClr val="2E2E5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244046" y="841248"/>
            <a:ext cx="875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S5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4046" y="822960"/>
            <a:ext cx="0" cy="4114800"/>
          </a:xfrm>
          <a:prstGeom prst="line">
            <a:avLst/>
          </a:prstGeom>
          <a:noFill/>
          <a:ln w="6350">
            <a:solidFill>
              <a:srgbClr val="2E2E5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119257" y="841248"/>
            <a:ext cx="875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S6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19257" y="822960"/>
            <a:ext cx="0" cy="4114800"/>
          </a:xfrm>
          <a:prstGeom prst="line">
            <a:avLst/>
          </a:prstGeom>
          <a:noFill/>
          <a:ln w="6350">
            <a:solidFill>
              <a:srgbClr val="2E2E5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994469" y="841248"/>
            <a:ext cx="875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S7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94469" y="822960"/>
            <a:ext cx="0" cy="4114800"/>
          </a:xfrm>
          <a:prstGeom prst="line">
            <a:avLst/>
          </a:prstGeom>
          <a:noFill/>
          <a:ln w="6350">
            <a:solidFill>
              <a:srgbClr val="2E2E5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74320" y="1115568"/>
            <a:ext cx="2423160" cy="274320"/>
          </a:xfrm>
          <a:prstGeom prst="rect">
            <a:avLst/>
          </a:prstGeom>
          <a:solidFill>
            <a:srgbClr val="1E1E3A"/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1521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DE8"/>
                </a:solidFill>
              </a:rPr>
              <a:t>Lot 1 – Cadrage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143560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Analyse des besoins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0040" y="155448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Charte de projet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" y="1673352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Cahier des charges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0" y="1161288"/>
            <a:ext cx="875211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1179576"/>
            <a:ext cx="78377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Lot 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92808"/>
            <a:ext cx="2423160" cy="274320"/>
          </a:xfrm>
          <a:prstGeom prst="rect">
            <a:avLst/>
          </a:prstGeom>
          <a:solidFill>
            <a:srgbClr val="1E1E3A"/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19293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DE8"/>
                </a:solidFill>
              </a:rPr>
              <a:t>Lot 2 – Graphe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221284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Génération JSONL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0040" y="233172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Modélisation Neo4j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20040" y="2450592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Requêtes Cypher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20040" y="2569464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Endpoints graphe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18411" y="1938528"/>
            <a:ext cx="1750423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64131" y="1956816"/>
            <a:ext cx="16589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Lot 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4320" y="2670048"/>
            <a:ext cx="2423160" cy="274320"/>
          </a:xfrm>
          <a:prstGeom prst="rect">
            <a:avLst/>
          </a:prstGeom>
          <a:solidFill>
            <a:srgbClr val="1E1E3A"/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7066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DE8"/>
                </a:solidFill>
              </a:rPr>
              <a:t>Lot 3 – Backend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0040" y="299008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Routeurs FastAPI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0040" y="310896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Sécurité JWT/RBAC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0040" y="3227832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Endpoints IA/Big Data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WebSocket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493623" y="2715768"/>
            <a:ext cx="2188029" cy="201168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39343" y="2734056"/>
            <a:ext cx="209658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Lot 3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447288"/>
            <a:ext cx="2423160" cy="274320"/>
          </a:xfrm>
          <a:prstGeom prst="rect">
            <a:avLst/>
          </a:prstGeom>
          <a:solidFill>
            <a:srgbClr val="1E1E3A"/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48386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DE8"/>
                </a:solidFill>
              </a:rPr>
              <a:t>Lot 4 – Frontend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0040" y="376732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Pages React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0040" y="388620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Intégration API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20040" y="4005072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Visualisation 3D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0040" y="4123944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Chatbot Veda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368834" y="3493008"/>
            <a:ext cx="1750423" cy="201168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14554" y="3511296"/>
            <a:ext cx="16589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Lot 4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74320" y="4224528"/>
            <a:ext cx="2423160" cy="274320"/>
          </a:xfrm>
          <a:prstGeom prst="rect">
            <a:avLst/>
          </a:prstGeom>
          <a:solidFill>
            <a:srgbClr val="1E1E3A"/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2611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DE8"/>
                </a:solidFill>
              </a:rPr>
              <a:t>Lot 5 – Qualité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0040" y="454456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Tests Pytest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20040" y="466344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Docker Compose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20040" y="4782312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Documentation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20040" y="4901184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· Rapport final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119257" y="4270248"/>
            <a:ext cx="1750423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64977" y="4288536"/>
            <a:ext cx="165898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Lot 5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74320" y="4663440"/>
            <a:ext cx="228600" cy="1280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645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Chemin critique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377440" y="4663440"/>
            <a:ext cx="228600" cy="128016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51760" y="4645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3DE8"/>
                </a:solidFill>
              </a:rPr>
              <a:t>Tâches non critiques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572000" y="4617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✓ Livré en 7 semaines (gain d'1 semaine sur le prévisionnel de 8 semaines)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du Projet &amp; Suivi des Sprints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100% de stories livrées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2651760" cy="749808"/>
          </a:xfrm>
          <a:prstGeom prst="rect">
            <a:avLst/>
          </a:prstGeom>
          <a:solidFill>
            <a:srgbClr val="1E1E3A"/>
          </a:solidFill>
          <a:ln w="1905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3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17 200+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1307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Lignes de code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651760" cy="749808"/>
          </a:xfrm>
          <a:prstGeom prst="rect">
            <a:avLst/>
          </a:prstGeom>
          <a:solidFill>
            <a:srgbClr val="1E1E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1307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Fichiers source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51760" cy="749808"/>
          </a:xfrm>
          <a:prstGeom prst="rect">
            <a:avLst/>
          </a:prstGeom>
          <a:solidFill>
            <a:srgbClr val="1E1E3A"/>
          </a:solidFill>
          <a:ln w="1905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1307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Pages frontend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783080"/>
            <a:ext cx="2651760" cy="749808"/>
          </a:xfrm>
          <a:prstGeom prst="rect">
            <a:avLst/>
          </a:prstGeom>
          <a:solidFill>
            <a:srgbClr val="1E1E3A"/>
          </a:solidFill>
          <a:ln w="1905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D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4320" y="22219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Routeurs backend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783080"/>
            <a:ext cx="2651760" cy="749808"/>
          </a:xfrm>
          <a:prstGeom prst="rect">
            <a:avLst/>
          </a:prstGeom>
          <a:solidFill>
            <a:srgbClr val="1E1E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0" y="22219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Modules 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783080"/>
            <a:ext cx="2651760" cy="749808"/>
          </a:xfrm>
          <a:prstGeom prst="rect">
            <a:avLst/>
          </a:prstGeom>
          <a:solidFill>
            <a:srgbClr val="1E1E3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&gt;70%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22219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Couverture tests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2743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Suivi par Sprint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05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Sprint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Période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Stories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Sprint 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S1–S2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3/3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✓ Terminé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Sprint 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S3–S4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3/3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✓ Terminé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Sprint 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S5–S6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3/3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✓ Terminé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Sprint 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S7–S8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F5"/>
                          </a:solidFill>
                        </a:rPr>
                        <a:t>3/3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896"/>
                          </a:solidFill>
                        </a:rPr>
                        <a:t>✓ Terminé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 semaines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</a:rPr>
                        <a:t>12/12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</a:rPr>
                        <a:t>100% Livré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A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486400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Matrice RACI (Synthèse)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0" y="3035808"/>
            <a:ext cx="3383280" cy="274320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Architecture &amp; Backend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589520" y="3063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Soubaibi Omar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0" y="3374136"/>
            <a:ext cx="3383280" cy="274320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77840" y="3401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Modules IA / ML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589520" y="3401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Soubaibi Omar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486400" y="3712464"/>
            <a:ext cx="3383280" cy="274320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77840" y="3739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Frontend React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589520" y="3739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Yassine Baizi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486400" y="4050792"/>
            <a:ext cx="3383280" cy="274320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77840" y="4078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Endpoints Big Data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589520" y="40782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Binôme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486400" y="4389120"/>
            <a:ext cx="3383280" cy="274320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77840" y="4416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Tests &amp; Docker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7589520" y="4416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Soubaibi Omar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486400" y="4727448"/>
            <a:ext cx="3383280" cy="274320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77840" y="4754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Rapport &amp; Validation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589520" y="4754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Mme. Ounacer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Études Stratégiques — SWOT &amp; Porter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Analyse de faisabilité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8686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Analyse SWOT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2606040" cy="1536192"/>
          </a:xfrm>
          <a:prstGeom prst="rect">
            <a:avLst/>
          </a:prstGeom>
          <a:solidFill>
            <a:srgbClr val="1E1E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170432"/>
            <a:ext cx="260604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070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Graphe Neo4j natif &amp; explicable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18105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Visualisation 3D WebGL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2103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IA hybride (ML + LLM + fallback)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Docker Compose reproductible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17520" y="1170432"/>
            <a:ext cx="2606040" cy="1536192"/>
          </a:xfrm>
          <a:prstGeom prst="rect">
            <a:avLst/>
          </a:prstGeom>
          <a:solidFill>
            <a:srgbClr val="1E1E3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17520" y="1170432"/>
            <a:ext cx="260604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2070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Faiblesses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Kafka simulé (pas de cluster réel)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08960" y="18105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Dépendance à Groq LLM externe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0" y="2103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Fallback JSONL à gouverner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0896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Courbe apprentissage Neo4j/Cypher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2606040" cy="1536192"/>
          </a:xfrm>
          <a:prstGeom prst="rect">
            <a:avLst/>
          </a:prstGeom>
          <a:solidFill>
            <a:srgbClr val="1E1E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80360"/>
            <a:ext cx="260604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91693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Opportunités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2278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Marché Talent Intelligence en croissance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Pénurie solutions open source RH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3813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Adoption accélérée du télétravail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1056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Intégration Moodle/SAP possible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17520" y="2880360"/>
            <a:ext cx="2606040" cy="1536192"/>
          </a:xfrm>
          <a:prstGeom prst="rect">
            <a:avLst/>
          </a:prstGeom>
          <a:solidFill>
            <a:srgbClr val="1E1E3A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17520" y="2880360"/>
            <a:ext cx="2606040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291693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Menaces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108960" y="32278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Workday, 365Talents dominants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108960" y="3520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Évolutions rapides des LLM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108960" y="3813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Conformité RGPD exigeante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08960" y="41056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• Résistance culturelle à l'IA RH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52160" y="868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Forces de Porter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52160" y="1170432"/>
            <a:ext cx="3017520" cy="457200"/>
          </a:xfrm>
          <a:prstGeom prst="rect">
            <a:avLst/>
          </a:prstGeom>
          <a:solidFill>
            <a:srgbClr val="1E1E3A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1188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Concurrence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11887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Élevée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0" y="1444752"/>
            <a:ext cx="219456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746504"/>
            <a:ext cx="3017520" cy="457200"/>
          </a:xfrm>
          <a:prstGeom prst="rect">
            <a:avLst/>
          </a:prstGeom>
          <a:solidFill>
            <a:srgbClr val="1E1E3A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1764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Pouvoir clients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0" y="17647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Moyen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2020824"/>
            <a:ext cx="146304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2322576"/>
            <a:ext cx="3017520" cy="457200"/>
          </a:xfrm>
          <a:prstGeom prst="rect">
            <a:avLst/>
          </a:prstGeom>
          <a:solidFill>
            <a:srgbClr val="1E1E3A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2340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Pouvoir fournisseurs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98080" y="2340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Faible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43600" y="2596896"/>
            <a:ext cx="731520" cy="914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52160" y="2898648"/>
            <a:ext cx="3017520" cy="457200"/>
          </a:xfrm>
          <a:prstGeom prst="rect">
            <a:avLst/>
          </a:prstGeom>
          <a:solidFill>
            <a:srgbClr val="1E1E3A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29169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Nouveaux entrants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98080" y="2916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Moyen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3172968"/>
            <a:ext cx="146304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52160" y="3474720"/>
            <a:ext cx="3017520" cy="457200"/>
          </a:xfrm>
          <a:prstGeom prst="rect">
            <a:avLst/>
          </a:prstGeom>
          <a:solidFill>
            <a:srgbClr val="1E1E3A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34930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Substituts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98080" y="34930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Élevée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43600" y="3749040"/>
            <a:ext cx="219456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Déploiement Docker &amp; Sécurité JWT/RBAC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Architecture opérationnelle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Schéma de Déploiement Docker Compose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143000"/>
            <a:ext cx="5303520" cy="3474720"/>
          </a:xfrm>
          <a:prstGeom prst="rect">
            <a:avLst/>
          </a:prstGeom>
          <a:solidFill>
            <a:srgbClr val="12122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Docker Host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-91440" y="2194560"/>
            <a:ext cx="548640" cy="502920"/>
          </a:xfrm>
          <a:prstGeom prst="rect">
            <a:avLst/>
          </a:prstGeom>
          <a:solidFill>
            <a:srgbClr val="1E1E3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-9144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User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1417320"/>
            <a:ext cx="1554480" cy="1234440"/>
          </a:xfrm>
          <a:prstGeom prst="rect">
            <a:avLst/>
          </a:prstGeom>
          <a:solidFill>
            <a:srgbClr val="0A20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435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Frontend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(Nginx)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React 18 SPA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Port 3000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1417320"/>
            <a:ext cx="1737360" cy="1600200"/>
          </a:xfrm>
          <a:prstGeom prst="rect">
            <a:avLst/>
          </a:prstGeom>
          <a:solidFill>
            <a:srgbClr val="1A0A4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435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DE8"/>
                </a:solidFill>
              </a:rPr>
              <a:t>Backend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C3DE8"/>
                </a:solidFill>
              </a:rPr>
              <a:t>(FastAPI)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1920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Auth + RBAC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ML Modules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Kafka Sim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Port 8000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51960" y="1417320"/>
            <a:ext cx="1188720" cy="160020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444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</a:rPr>
              <a:t>Neo4j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1764792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Graph DB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Bolt 7687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7474 HTTP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Volume ✓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2441448"/>
            <a:ext cx="91440" cy="0"/>
          </a:xfrm>
          <a:prstGeom prst="line">
            <a:avLst/>
          </a:prstGeom>
          <a:noFill/>
          <a:ln w="12700">
            <a:solidFill>
              <a:srgbClr val="8888A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103120" y="2103120"/>
            <a:ext cx="228600" cy="0"/>
          </a:xfrm>
          <a:prstGeom prst="line">
            <a:avLst/>
          </a:prstGeom>
          <a:noFill/>
          <a:ln w="12700">
            <a:solidFill>
              <a:srgbClr val="6C3D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80" y="2103120"/>
            <a:ext cx="1828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21408" y="19659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HTTP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87368" y="196596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Bolt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48640" y="2788920"/>
            <a:ext cx="4846320" cy="256032"/>
          </a:xfrm>
          <a:prstGeom prst="rect">
            <a:avLst/>
          </a:prstGeom>
          <a:solidFill>
            <a:srgbClr val="0A3A0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8072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</a:rPr>
              <a:t>✅ Healthchecks : Neo4j ← Backend ← Frontend  |  Ports: 3000 · 8000 · 7474 · 7687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52160" y="868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DE8"/>
                </a:solidFill>
              </a:rPr>
              <a:t>Flux JWT &amp; RBAC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52160" y="1143000"/>
            <a:ext cx="3017520" cy="603504"/>
          </a:xfrm>
          <a:prstGeom prst="rect">
            <a:avLst/>
          </a:prstGeom>
          <a:solidFill>
            <a:srgbClr val="1E1E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0448" y="1161288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1161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81344" y="117957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POST /api/auth/login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{email, password}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98464" y="1746504"/>
            <a:ext cx="0" cy="146304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852160" y="1892808"/>
            <a:ext cx="3017520" cy="603504"/>
          </a:xfrm>
          <a:prstGeom prst="rect">
            <a:avLst/>
          </a:prstGeom>
          <a:solidFill>
            <a:srgbClr val="1E1E3A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70448" y="1911096"/>
            <a:ext cx="256032" cy="256032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1911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81344" y="192938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Vérification bcrypt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+ génération JWT signé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98464" y="2496312"/>
            <a:ext cx="0" cy="146304"/>
          </a:xfrm>
          <a:prstGeom prst="line">
            <a:avLst/>
          </a:prstGeom>
          <a:noFill/>
          <a:ln w="12700">
            <a:solidFill>
              <a:srgbClr val="6C3DE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852160" y="2642616"/>
            <a:ext cx="3017520" cy="603504"/>
          </a:xfrm>
          <a:prstGeom prst="rect">
            <a:avLst/>
          </a:prstGeom>
          <a:solidFill>
            <a:srgbClr val="1E1E3A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70448" y="2660904"/>
            <a:ext cx="256032" cy="25603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0448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81344" y="26791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Token stocké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côté client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98464" y="3246120"/>
            <a:ext cx="0" cy="146304"/>
          </a:xfrm>
          <a:prstGeom prst="line">
            <a:avLst/>
          </a:prstGeom>
          <a:noFill/>
          <a:ln w="12700">
            <a:solidFill>
              <a:srgbClr val="9B5DE5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852160" y="3392424"/>
            <a:ext cx="3017520" cy="603504"/>
          </a:xfrm>
          <a:prstGeom prst="rect">
            <a:avLst/>
          </a:prstGeom>
          <a:solidFill>
            <a:srgbClr val="1E1E3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70448" y="3410712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81344" y="342900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Authorization: Bearer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&lt;token&gt; sur chaque requête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98464" y="3995928"/>
            <a:ext cx="0" cy="146304"/>
          </a:xfrm>
          <a:prstGeom prst="line">
            <a:avLst/>
          </a:prstGeom>
          <a:noFill/>
          <a:ln w="12700">
            <a:solidFill>
              <a:srgbClr val="00B4A6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5852160" y="4142232"/>
            <a:ext cx="3017520" cy="603504"/>
          </a:xfrm>
          <a:prstGeom prst="rect">
            <a:avLst/>
          </a:prstGeom>
          <a:solidFill>
            <a:srgbClr val="1E1E3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70448" y="4160520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0448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81344" y="417880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Decode JWT → rôle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8F5"/>
                </a:solidFill>
              </a:rPr>
              <a:t>RBAC: user/manager/admin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52160" y="4800600"/>
            <a:ext cx="3017520" cy="164592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0448" y="4818888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AA"/>
                </a:solidFill>
              </a:rPr>
              <a:t>RBAC: user → manager → admin  |  Gardes: require_auth · require_manager · require_admin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— Connexion &amp; Dashboard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Pages applicatives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0A0A1A"/>
          </a:solidFill>
          <a:ln w="2540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868680"/>
            <a:ext cx="4023360" cy="274320"/>
          </a:xfrm>
          <a:prstGeom prst="rect">
            <a:avLst/>
          </a:prstGeom>
          <a:solidFill>
            <a:srgbClr val="6C3D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Page de Connexion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74520" y="1325880"/>
            <a:ext cx="731520" cy="731520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Nexora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377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Sign in to your workspace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" y="2615184"/>
            <a:ext cx="1097280" cy="2011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63347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Email Login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48840" y="2615184"/>
            <a:ext cx="914400" cy="20116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67128" y="263347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Admin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0" y="2907792"/>
            <a:ext cx="2377440" cy="347472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944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Email Address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410712"/>
            <a:ext cx="2377440" cy="347472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447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Password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3931920"/>
            <a:ext cx="2377440" cy="3200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59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 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48056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🔐 Champs sécurisés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" y="459028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✅ Validation client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7000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🔄 JWT + RBAC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" y="480974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⚡ Rate limiting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868680"/>
            <a:ext cx="4297680" cy="3931920"/>
          </a:xfrm>
          <a:prstGeom prst="rect">
            <a:avLst/>
          </a:prstGeom>
          <a:solidFill>
            <a:srgbClr val="0A0A1A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0" y="868680"/>
            <a:ext cx="4297680" cy="274320"/>
          </a:xfrm>
          <a:prstGeom prst="rect">
            <a:avLst/>
          </a:prstGeom>
          <a:solidFill>
            <a:srgbClr val="1212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Dashboard Principal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1143000"/>
            <a:ext cx="4297680" cy="274320"/>
          </a:xfrm>
          <a:prstGeom prst="rect">
            <a:avLst/>
          </a:prstGeom>
          <a:solidFill>
            <a:srgbClr val="12122B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1704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N Nexora    🔍 Search...    🏠 👥 📋 💬 🔔 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17720" y="1481328"/>
            <a:ext cx="1005840" cy="594360"/>
          </a:xfrm>
          <a:prstGeom prst="rect">
            <a:avLst/>
          </a:prstGeom>
          <a:solidFill>
            <a:srgbClr val="1E1E3A"/>
          </a:solidFill>
          <a:ln w="10160">
            <a:solidFill>
              <a:srgbClr val="6C3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3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49 999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17720" y="1773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Experts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687568" y="1481328"/>
            <a:ext cx="1005840" cy="594360"/>
          </a:xfrm>
          <a:prstGeom prst="rect">
            <a:avLst/>
          </a:prstGeom>
          <a:solidFill>
            <a:srgbClr val="1E1E3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3 001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87568" y="1773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Skills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757416" y="1481328"/>
            <a:ext cx="1005840" cy="594360"/>
          </a:xfrm>
          <a:prstGeom prst="rect">
            <a:avLst/>
          </a:prstGeom>
          <a:solidFill>
            <a:srgbClr val="1E1E3A"/>
          </a:solidFill>
          <a:ln w="10160">
            <a:solidFill>
              <a:srgbClr val="00B4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57416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5 000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57416" y="1773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Projects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827264" y="1481328"/>
            <a:ext cx="1005840" cy="594360"/>
          </a:xfrm>
          <a:prstGeom prst="rect">
            <a:avLst/>
          </a:prstGeom>
          <a:solidFill>
            <a:srgbClr val="1E1E3A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27264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10 000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27264" y="1773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Documents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17720" y="2148840"/>
            <a:ext cx="2011680" cy="1371600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1762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Department Overview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81728" y="2697480"/>
            <a:ext cx="201168" cy="822960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56048" y="2331720"/>
            <a:ext cx="201168" cy="1188720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30368" y="2880360"/>
            <a:ext cx="201168" cy="640080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04688" y="2606040"/>
            <a:ext cx="201168" cy="914400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79008" y="2788920"/>
            <a:ext cx="201168" cy="731520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53328" y="2514600"/>
            <a:ext cx="201168" cy="1005840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3063240"/>
            <a:ext cx="201168" cy="457200"/>
          </a:xfrm>
          <a:prstGeom prst="rect">
            <a:avLst/>
          </a:prstGeom>
          <a:solidFill>
            <a:srgbClr val="6C3DE8">
              <a:alpha val="8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5120" y="2148840"/>
            <a:ext cx="2148840" cy="1371600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0840" y="21762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Top Skills Distribution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223760" y="2395728"/>
            <a:ext cx="914400" cy="914400"/>
          </a:xfrm>
          <a:prstGeom prst="ellipse">
            <a:avLst/>
          </a:prstGeom>
          <a:solidFill>
            <a:srgbClr val="1E1E3A"/>
          </a:solidFill>
          <a:ln w="127000">
            <a:solidFill>
              <a:srgbClr val="6C3D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60920" y="2532888"/>
            <a:ext cx="640080" cy="640080"/>
          </a:xfrm>
          <a:prstGeom prst="ellipse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17720" y="3584448"/>
            <a:ext cx="4206240" cy="1097280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611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Project Status &amp; Budget  |  Skill Demand vs Supply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— Recherche d'Experts &amp; Graphe 3D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Visualisation interactive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4297680" cy="3931920"/>
          </a:xfrm>
          <a:prstGeom prst="rect">
            <a:avLst/>
          </a:prstGeom>
          <a:solidFill>
            <a:srgbClr val="0A0A1A"/>
          </a:solidFill>
          <a:ln w="2540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886968"/>
            <a:ext cx="4206240" cy="228600"/>
          </a:xfrm>
          <a:prstGeom prst="rect">
            <a:avLst/>
          </a:prstGeom>
          <a:solidFill>
            <a:srgbClr val="12122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3DE8"/>
                </a:solidFill>
              </a:rPr>
              <a:t>🔍 ML-Powered Expert Recommendation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10642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Uses TF-IDF vectorization + cosine similarity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1325880"/>
            <a:ext cx="3474720" cy="292608"/>
          </a:xfrm>
          <a:prstGeom prst="rect">
            <a:avLst/>
          </a:prstGeom>
          <a:solidFill>
            <a:srgbClr val="1E1E3A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44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</a:rPr>
              <a:t>🔍  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325880"/>
            <a:ext cx="640080" cy="29260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3533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691640"/>
            <a:ext cx="228600" cy="2011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099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#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1691640"/>
            <a:ext cx="1005840" cy="2011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7099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Expert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554480" y="1691640"/>
            <a:ext cx="914400" cy="2011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709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Role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68880" y="1691640"/>
            <a:ext cx="822960" cy="2011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17099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Dept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91840" y="1691640"/>
            <a:ext cx="502920" cy="2011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7099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Sim.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794760" y="1691640"/>
            <a:ext cx="731520" cy="2011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17099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Skills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1920240"/>
            <a:ext cx="22860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1947672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3DE8"/>
                </a:solidFill>
              </a:rPr>
              <a:t>#1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8640" y="1920240"/>
            <a:ext cx="100584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194767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Clara François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554480" y="1920240"/>
            <a:ext cx="91440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72768" y="19476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Data Scientist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68880" y="1920240"/>
            <a:ext cx="82296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87168" y="19476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Infrastructure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91840" y="1920240"/>
            <a:ext cx="50292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194767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</a:rPr>
              <a:t>99.5%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794760" y="1920240"/>
            <a:ext cx="73152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13048" y="19476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AI Python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0040" y="2276856"/>
            <a:ext cx="22860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2304288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3DE8"/>
                </a:solidFill>
              </a:rPr>
              <a:t>#2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8640" y="2276856"/>
            <a:ext cx="100584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230428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Noah Müller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554480" y="2276856"/>
            <a:ext cx="91440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72768" y="230428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Backend Dev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468880" y="2276856"/>
            <a:ext cx="82296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7168" y="230428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Cloud Infra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291840" y="2276856"/>
            <a:ext cx="50292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0128" y="2304288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</a:rPr>
              <a:t>99.5%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94760" y="2276856"/>
            <a:ext cx="73152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3048" y="23042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Python Java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" y="2633472"/>
            <a:ext cx="22860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" y="2660904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3DE8"/>
                </a:solidFill>
              </a:rPr>
              <a:t>#3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8640" y="2633472"/>
            <a:ext cx="100584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266090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Alice Jones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554480" y="2633472"/>
            <a:ext cx="91440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72768" y="26609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Tech Lead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468880" y="2633472"/>
            <a:ext cx="82296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87168" y="26609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QA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91840" y="2633472"/>
            <a:ext cx="50292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10128" y="2660904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</a:rPr>
              <a:t>98.5%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794760" y="2633472"/>
            <a:ext cx="73152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13048" y="266090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Python JS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20040" y="2990088"/>
            <a:ext cx="22860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8328" y="3017520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3DE8"/>
                </a:solidFill>
              </a:rPr>
              <a:t>#4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48640" y="2990088"/>
            <a:ext cx="100584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301752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Liam Nguyen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554480" y="2990088"/>
            <a:ext cx="91440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72768" y="301752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Lead Dev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468880" y="2990088"/>
            <a:ext cx="82296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87168" y="30175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ML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291840" y="2990088"/>
            <a:ext cx="50292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10128" y="3017520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</a:rPr>
              <a:t>97.3%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794760" y="2990088"/>
            <a:ext cx="73152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13048" y="301752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Python TF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20040" y="3346704"/>
            <a:ext cx="22860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8328" y="3374136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3DE8"/>
                </a:solidFill>
              </a:rPr>
              <a:t>#5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48640" y="3346704"/>
            <a:ext cx="100584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" y="337413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A. Martinez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554480" y="3346704"/>
            <a:ext cx="91440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572768" y="337413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SRE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468880" y="3346704"/>
            <a:ext cx="82296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487168" y="337413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Quality Assur.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291840" y="3346704"/>
            <a:ext cx="50292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10128" y="3374136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</a:rPr>
              <a:t>97.2%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794760" y="3346704"/>
            <a:ext cx="731520" cy="292608"/>
          </a:xfrm>
          <a:prstGeom prst="rect">
            <a:avLst/>
          </a:prstGeom>
          <a:solidFill>
            <a:srgbClr val="1E1E3A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813048" y="337413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Python K8s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20040" y="3703320"/>
            <a:ext cx="22860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8328" y="3730752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3DE8"/>
                </a:solidFill>
              </a:rPr>
              <a:t>#6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548640" y="3703320"/>
            <a:ext cx="100584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6928" y="373075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Ava Suzuki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554480" y="3703320"/>
            <a:ext cx="91440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572768" y="373075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SW Architect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468880" y="3703320"/>
            <a:ext cx="82296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487168" y="37307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Infra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291840" y="3703320"/>
            <a:ext cx="50292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310128" y="373075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</a:rPr>
              <a:t>97.2%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794760" y="3703320"/>
            <a:ext cx="731520" cy="292608"/>
          </a:xfrm>
          <a:prstGeom prst="rect">
            <a:avLst/>
          </a:prstGeom>
          <a:solidFill>
            <a:srgbClr val="12122B"/>
          </a:solidFill>
          <a:ln w="3810">
            <a:solidFill>
              <a:srgbClr val="2E2E5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13048" y="373075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Node Java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000510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4800600" y="896112"/>
            <a:ext cx="4023360" cy="219456"/>
          </a:xfrm>
          <a:prstGeom prst="rect">
            <a:avLst/>
          </a:prstGeom>
          <a:solidFill>
            <a:srgbClr val="12122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Full Graph Explorer — 3D WebGL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800600" y="1143000"/>
            <a:ext cx="1371600" cy="3520440"/>
          </a:xfrm>
          <a:prstGeom prst="rect">
            <a:avLst/>
          </a:prstGeom>
          <a:solidFill>
            <a:srgbClr val="050520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46320" y="11704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8F5"/>
                </a:solidFill>
              </a:rPr>
              <a:t>Filter by Type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8F5"/>
                </a:solidFill>
              </a:rPr>
              <a:t>ALL PERSON SKILL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8F5"/>
                </a:solidFill>
              </a:rPr>
              <a:t>PROJECT DOC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4846320" y="1874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Graph Stats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Skill 3221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Person 40999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Project 5000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Document 10000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Tech 20000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4846320" y="3310128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Legend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● Person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● Skill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● Project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● Document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● Technology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132320" y="2011680"/>
            <a:ext cx="731520" cy="-36576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132320" y="2011680"/>
            <a:ext cx="-548640" cy="-45720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132320" y="2011680"/>
            <a:ext cx="-274320" cy="73152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63840" y="1645920"/>
            <a:ext cx="274320" cy="73152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63840" y="1645920"/>
            <a:ext cx="457200" cy="-27432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583680" y="1554480"/>
            <a:ext cx="-274320" cy="73152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38160" y="2377440"/>
            <a:ext cx="-548640" cy="54864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858000" y="2743200"/>
            <a:ext cx="731520" cy="18288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589520" y="2926080"/>
            <a:ext cx="365760" cy="54864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309360" y="2286000"/>
            <a:ext cx="91440" cy="91440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321040" y="1371600"/>
            <a:ext cx="-182880" cy="100584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400800" y="3200400"/>
            <a:ext cx="365760" cy="64008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955280" y="3474720"/>
            <a:ext cx="548640" cy="-731520"/>
          </a:xfrm>
          <a:prstGeom prst="line">
            <a:avLst/>
          </a:prstGeom>
          <a:noFill/>
          <a:ln w="10160">
            <a:solidFill>
              <a:srgbClr val="22335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931152" y="1810512"/>
            <a:ext cx="402336" cy="402336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726680" y="1508760"/>
            <a:ext cx="274320" cy="274320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464808" y="1435608"/>
            <a:ext cx="237744" cy="237744"/>
          </a:xfrm>
          <a:prstGeom prst="ellipse">
            <a:avLst/>
          </a:prstGeom>
          <a:solidFill>
            <a:srgbClr val="6C3DE8">
              <a:alpha val="9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37576" y="2276856"/>
            <a:ext cx="201168" cy="201168"/>
          </a:xfrm>
          <a:prstGeom prst="ellipse">
            <a:avLst/>
          </a:prstGeom>
          <a:solidFill>
            <a:srgbClr val="00B4A6">
              <a:alpha val="90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29984" y="2615184"/>
            <a:ext cx="256032" cy="256032"/>
          </a:xfrm>
          <a:prstGeom prst="ellipse">
            <a:avLst/>
          </a:prstGeom>
          <a:solidFill>
            <a:srgbClr val="9B5DE5">
              <a:alpha val="9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79792" y="2816352"/>
            <a:ext cx="219456" cy="219456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227064" y="2203704"/>
            <a:ext cx="164592" cy="164592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247888" y="1298448"/>
            <a:ext cx="146304" cy="146304"/>
          </a:xfrm>
          <a:prstGeom prst="ellipse">
            <a:avLst/>
          </a:prstGeom>
          <a:solidFill>
            <a:srgbClr val="FF6B35">
              <a:alpha val="9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336792" y="3136392"/>
            <a:ext cx="128016" cy="128016"/>
          </a:xfrm>
          <a:prstGeom prst="ellipse">
            <a:avLst/>
          </a:prstGeom>
          <a:solidFill>
            <a:srgbClr val="6C3DE8">
              <a:alpha val="9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863840" y="3383280"/>
            <a:ext cx="182880" cy="182880"/>
          </a:xfrm>
          <a:prstGeom prst="ellipse">
            <a:avLst/>
          </a:prstGeom>
          <a:solidFill>
            <a:srgbClr val="00B4A6">
              <a:alpha val="90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93408" y="3767328"/>
            <a:ext cx="146304" cy="146304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421624" y="2660904"/>
            <a:ext cx="164592" cy="164592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503920" y="4480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⊕ ⊖ ↺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Chatbot Veda &amp; Messagerie Temps Réel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LLM · WebSocket · Collaboration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3931920" cy="3931920"/>
          </a:xfrm>
          <a:prstGeom prst="rect">
            <a:avLst/>
          </a:prstGeom>
          <a:solidFill>
            <a:srgbClr val="0A0A1A"/>
          </a:solidFill>
          <a:ln w="2540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886968"/>
            <a:ext cx="3840480" cy="228600"/>
          </a:xfrm>
          <a:prstGeom prst="rect">
            <a:avLst/>
          </a:prstGeom>
          <a:solidFill>
            <a:srgbClr val="1A0030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DE5"/>
                </a:solidFill>
              </a:rPr>
              <a:t>Veda — AI Assistant · Online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170432"/>
            <a:ext cx="3291840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216152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Hi! I'm Veda, your intelligent AI assistant. Ask me anything — from finding experts and skills to general knowledge about companies and technologies! 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7240" y="1965960"/>
            <a:ext cx="3291840" cy="3200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01168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Who are the top experts?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3291840" cy="1005840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774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Based on PageRank analysis, the top 3 experts are: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1. Clara François — Data Science (score: 0.89)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2. Noah Müller — Cloud Architecture (score: 0.84)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3. Alice Jones — Tech Leadership (score: 0.81)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77240" y="3493008"/>
            <a:ext cx="3291840" cy="3200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538728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Show me proposals about 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4462272"/>
            <a:ext cx="3383280" cy="256032"/>
          </a:xfrm>
          <a:prstGeom prst="rect">
            <a:avLst/>
          </a:prstGeom>
          <a:solidFill>
            <a:srgbClr val="1E1E3A"/>
          </a:solidFill>
          <a:ln w="1016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80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A"/>
                </a:solidFill>
              </a:rPr>
              <a:t>Ask Veda anything...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0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DE5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868680"/>
            <a:ext cx="4480560" cy="3931920"/>
          </a:xfrm>
          <a:prstGeom prst="rect">
            <a:avLst/>
          </a:prstGeom>
          <a:solidFill>
            <a:srgbClr val="0A0A1A"/>
          </a:solidFill>
          <a:ln w="254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34840" y="886968"/>
            <a:ext cx="4389120" cy="228600"/>
          </a:xfrm>
          <a:prstGeom prst="rect">
            <a:avLst/>
          </a:prstGeom>
          <a:solidFill>
            <a:srgbClr val="001A15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</a:rPr>
              <a:t>Messaging — Temps Réel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4840" y="1143000"/>
            <a:ext cx="1463040" cy="3520440"/>
          </a:xfrm>
          <a:prstGeom prst="rect">
            <a:avLst/>
          </a:prstGeom>
          <a:solidFill>
            <a:srgbClr val="12122B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170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🔍 Conversations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62272" y="1435608"/>
            <a:ext cx="256032" cy="256032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1444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Olivia Weber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62272" y="1947672"/>
            <a:ext cx="256032" cy="256032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1956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Sarah Patel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62272" y="2459736"/>
            <a:ext cx="256032" cy="256032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0" y="2468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Ana Kim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62272" y="2971800"/>
            <a:ext cx="256032" cy="256032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62272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0" y="29809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Mei Smith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462272" y="3483864"/>
            <a:ext cx="256032" cy="256032"/>
          </a:xfrm>
          <a:prstGeom prst="ellipse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3493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8F5"/>
                </a:solidFill>
              </a:rPr>
              <a:t>Maria Garcia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943600" y="1188720"/>
            <a:ext cx="2103120" cy="38404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1207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8F5"/>
                </a:solidFill>
              </a:rPr>
              <a:t>I've done a few K8s migrations. The trickiest part is networking.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583680" y="1737360"/>
            <a:ext cx="2103120" cy="38404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755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8F5"/>
                </a:solidFill>
              </a:rPr>
              <a:t>That's exactly what we're struggling with. Service mesh or native K8s networking?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943600" y="2286000"/>
            <a:ext cx="2103120" cy="38404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2304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8F5"/>
                </a:solidFill>
              </a:rPr>
              <a:t>I'd recommend starting with native, then add Istio if you need traffic management.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583680" y="2834640"/>
            <a:ext cx="2103120" cy="38404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2852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8F5"/>
                </a:solidFill>
              </a:rPr>
              <a:t>Makes sense! Could we set up a quick call this week?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43600" y="3383280"/>
            <a:ext cx="2103120" cy="38404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9320" y="3401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8F5"/>
                </a:solidFill>
              </a:rPr>
              <a:t>Absolutely! How about Thursday at 2pm? I'll send a calendar invite.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94360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B4A6"/>
                </a:solidFill>
              </a:rPr>
              <a:t>OW is typing...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943600" y="4206240"/>
            <a:ext cx="2651760" cy="256032"/>
          </a:xfrm>
          <a:prstGeom prst="rect">
            <a:avLst/>
          </a:prstGeom>
          <a:solidFill>
            <a:srgbClr val="1E1E3A"/>
          </a:solidFill>
          <a:ln w="10160">
            <a:solidFill>
              <a:srgbClr val="00B4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Write a message...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434840" y="4480560"/>
            <a:ext cx="4389120" cy="201168"/>
          </a:xfrm>
          <a:prstGeom prst="rect">
            <a:avLst/>
          </a:prstGeom>
          <a:solidFill>
            <a:srgbClr val="001A15"/>
          </a:solidFill>
          <a:ln w="6350">
            <a:solidFill>
              <a:srgbClr val="00B4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62272" y="449884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A6"/>
                </a:solidFill>
              </a:rPr>
              <a:t>⚡ WebSocket bidirectionnel — Indicateur de saisie — Notifications temps réel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Builder &amp; Workspaces d'Équipe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Collaboration orientée compétences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4206240" cy="3931920"/>
          </a:xfrm>
          <a:prstGeom prst="rect">
            <a:avLst/>
          </a:prstGeom>
          <a:solidFill>
            <a:srgbClr val="0A0A1A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914400"/>
            <a:ext cx="4023360" cy="274320"/>
          </a:xfrm>
          <a:prstGeom prst="rect">
            <a:avLst/>
          </a:prstGeom>
          <a:solidFill>
            <a:srgbClr val="1A0800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🏆 Team Builder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AI-powered team assembly — Find the perfect team for any project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Configure Your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737360"/>
            <a:ext cx="4023360" cy="2926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64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Project Name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1920240" cy="2926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30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Team Size: 5 members ▾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77440" y="2103120"/>
            <a:ext cx="2011680" cy="2926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130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Priority: Balanced ▾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4023360" cy="292608"/>
          </a:xfrm>
          <a:prstGeom prst="rect">
            <a:avLst/>
          </a:prstGeom>
          <a:solidFill>
            <a:srgbClr val="1E1E3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963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Required Skills: Python, ML, FastAPI, Docker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01168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🔮 BUILD OPTIMAL TEAM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2644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Équipe suggérée :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493008"/>
            <a:ext cx="219456" cy="219456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93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35112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Clara François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364845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Lead ML Engineer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566160" y="35112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99%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794760"/>
            <a:ext cx="219456" cy="219456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" y="3813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Noah Müller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" y="395020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Backend Developer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66160" y="38130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97%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219456" cy="219456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Alice Jones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" y="425196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Tech Lead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566160" y="4114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95%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398264"/>
            <a:ext cx="219456" cy="219456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" y="4416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Liam Nguyen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0080" y="455371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AA"/>
                </a:solidFill>
              </a:rPr>
              <a:t>DevOps Engineer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566160" y="44165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94%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0A0A1A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09160" y="896112"/>
            <a:ext cx="4114800" cy="256032"/>
          </a:xfrm>
          <a:prstGeom prst="rect">
            <a:avLst/>
          </a:prstGeom>
          <a:solidFill>
            <a:srgbClr val="001A20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🌐 Team Workspaces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09160" y="11704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Private spaces for your teams to collaborate, chat, call, and track progress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09160" y="1417320"/>
            <a:ext cx="4114800" cy="868680"/>
          </a:xfrm>
          <a:prstGeom prst="rect">
            <a:avLst/>
          </a:prstGeom>
          <a:solidFill>
            <a:srgbClr val="1E1E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00600" y="1481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Cloud Migration Sprint 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0600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Migrating legacy services to K8s &amp; AWS. 22 items target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00600" y="1993392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01768" y="1993392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02936" y="1993392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04104" y="1993392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05272" y="1993392"/>
            <a:ext cx="182880" cy="182880"/>
          </a:xfrm>
          <a:prstGeom prst="ellipse">
            <a:avLst/>
          </a:prstGeom>
          <a:solidFill>
            <a:srgbClr val="00D4FF">
              <a:alpha val="8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0" y="2011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5 members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49440" y="20116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💬 196  ·  ⚡ 4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09160" y="2423160"/>
            <a:ext cx="4114800" cy="868680"/>
          </a:xfrm>
          <a:prstGeom prst="rect">
            <a:avLst/>
          </a:prstGeom>
          <a:solidFill>
            <a:srgbClr val="1E1E3A"/>
          </a:solidFill>
          <a:ln w="1270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800600" y="2487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DE8"/>
                </a:solidFill>
              </a:rPr>
              <a:t>AI Chatbot v2 🤖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800600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Building the next-gen AI chatbot with RAG and multi-arm conversations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00600" y="2999232"/>
            <a:ext cx="182880" cy="182880"/>
          </a:xfrm>
          <a:prstGeom prst="ellipse">
            <a:avLst/>
          </a:prstGeom>
          <a:solidFill>
            <a:srgbClr val="6C3DE8">
              <a:alpha val="80000"/>
            </a:srgbClr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01768" y="2999232"/>
            <a:ext cx="182880" cy="182880"/>
          </a:xfrm>
          <a:prstGeom prst="ellipse">
            <a:avLst/>
          </a:prstGeom>
          <a:solidFill>
            <a:srgbClr val="6C3DE8">
              <a:alpha val="80000"/>
            </a:srgbClr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02936" y="2999232"/>
            <a:ext cx="182880" cy="182880"/>
          </a:xfrm>
          <a:prstGeom prst="ellipse">
            <a:avLst/>
          </a:prstGeom>
          <a:solidFill>
            <a:srgbClr val="6C3DE8">
              <a:alpha val="80000"/>
            </a:srgbClr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0" y="30175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3 members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49440" y="30175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💬 31  ·  ⚡ 4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09160" y="3429000"/>
            <a:ext cx="4114800" cy="868680"/>
          </a:xfrm>
          <a:prstGeom prst="rect">
            <a:avLst/>
          </a:prstGeom>
          <a:solidFill>
            <a:srgbClr val="1E1E3A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800600" y="3493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</a:rPr>
              <a:t>Mobile App Redesign 📱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800600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Complete UI/UX overhaul of the mobile app with new design system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800600" y="4005072"/>
            <a:ext cx="182880" cy="182880"/>
          </a:xfrm>
          <a:prstGeom prst="ellipse">
            <a:avLst/>
          </a:prstGeom>
          <a:solidFill>
            <a:srgbClr val="00B4A6">
              <a:alpha val="80000"/>
            </a:srgbClr>
          </a:solidFill>
          <a:ln w="6350">
            <a:solidFill>
              <a:srgbClr val="00B4A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01768" y="4005072"/>
            <a:ext cx="182880" cy="182880"/>
          </a:xfrm>
          <a:prstGeom prst="ellipse">
            <a:avLst/>
          </a:prstGeom>
          <a:solidFill>
            <a:srgbClr val="00B4A6">
              <a:alpha val="80000"/>
            </a:srgbClr>
          </a:solidFill>
          <a:ln w="6350">
            <a:solidFill>
              <a:srgbClr val="00B4A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02936" y="4005072"/>
            <a:ext cx="182880" cy="182880"/>
          </a:xfrm>
          <a:prstGeom prst="ellipse">
            <a:avLst/>
          </a:prstGeom>
          <a:solidFill>
            <a:srgbClr val="00B4A6">
              <a:alpha val="80000"/>
            </a:srgbClr>
          </a:solidFill>
          <a:ln w="6350">
            <a:solidFill>
              <a:srgbClr val="00B4A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43600" y="4023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3 members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949440" y="4023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8AA"/>
                </a:solidFill>
              </a:rPr>
              <a:t>💬 7  ·  ⚡ 6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09160" y="4407408"/>
            <a:ext cx="4114800" cy="274320"/>
          </a:xfrm>
          <a:prstGeom prst="rect">
            <a:avLst/>
          </a:prstGeom>
          <a:solidFill>
            <a:srgbClr val="001A2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0" y="4443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+ NEW WORKSPACE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</a:rPr>
              <a:t>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" y="347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Perspectives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AA"/>
                </a:solidFill>
              </a:rPr>
              <a:t>Bilan &amp; Évolutions futures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Points Forts du Projet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4114800" cy="777240"/>
          </a:xfrm>
          <a:prstGeom prst="rect">
            <a:avLst/>
          </a:prstGeom>
          <a:solidFill>
            <a:srgbClr val="1E1E3A"/>
          </a:solidFill>
          <a:ln w="1270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2710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DE8"/>
                </a:solidFill>
              </a:rPr>
              <a:t>🗺  Graphe de Connaissances Neo4j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536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Relations explicites entre experts, compétences, projets et documents. Traversées natives, PageRank, Cypher expressif.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1207008"/>
            <a:ext cx="4114800" cy="777240"/>
          </a:xfrm>
          <a:prstGeom prst="rect">
            <a:avLst/>
          </a:prstGeom>
          <a:solidFill>
            <a:srgbClr val="1E1E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2710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🌐  Visualisation 3D WebGL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536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Exploration interactive du graphe organisationnel — navigation, filtrage, sélection de nœuds, codes couleur par entité.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167128"/>
            <a:ext cx="4114800" cy="777240"/>
          </a:xfrm>
          <a:prstGeom prst="rect">
            <a:avLst/>
          </a:prstGeom>
          <a:solidFill>
            <a:srgbClr val="1E1E3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2231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DE5"/>
                </a:solidFill>
              </a:rPr>
              <a:t>🤖  IA Hybride Multi-modèles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496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TF-IDF + cosinus, PageRank, filtrage collaboratif, régression logistique, Groq LLM (Veda) avec fallback rule-based.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167128"/>
            <a:ext cx="4114800" cy="777240"/>
          </a:xfrm>
          <a:prstGeom prst="rect">
            <a:avLst/>
          </a:prstGeom>
          <a:solidFill>
            <a:srgbClr val="1E1E3A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2231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</a:rPr>
              <a:t>🏗  Architecture API-First Conteneurisée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496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5"/>
                </a:solidFill>
              </a:rPr>
              <a:t>FastAPI + Pydantic + Swagger. Docker Compose reproductible, healthchecks, JWT + RBAC, rate limiting.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31729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Perspectives d'Amélioration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93008"/>
            <a:ext cx="4114800" cy="475488"/>
          </a:xfrm>
          <a:prstGeom prst="rect">
            <a:avLst/>
          </a:prstGeom>
          <a:solidFill>
            <a:srgbClr val="12122B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⚡  Kafka réel pour streaming événementiel à grande échelle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493008"/>
            <a:ext cx="4114800" cy="475488"/>
          </a:xfrm>
          <a:prstGeom prst="rect">
            <a:avLst/>
          </a:prstGeom>
          <a:solidFill>
            <a:srgbClr val="12122B"/>
          </a:solidFill>
          <a:ln w="10160">
            <a:solidFill>
              <a:srgbClr val="9B5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🧠  Renforcement GraphRAG : embeddings de nœuds + résumé de sous-graphes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087368"/>
            <a:ext cx="4114800" cy="475488"/>
          </a:xfrm>
          <a:prstGeom prst="rect">
            <a:avLst/>
          </a:prstGeom>
          <a:solidFill>
            <a:srgbClr val="12122B"/>
          </a:solidFill>
          <a:ln w="10160">
            <a:solidFill>
              <a:srgbClr val="00B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178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📊  Observabilité : Prometheus · Grafana · Jaeger · logs ELK centralisés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4087368"/>
            <a:ext cx="4114800" cy="475488"/>
          </a:xfrm>
          <a:prstGeom prst="rect">
            <a:avLst/>
          </a:prstGeom>
          <a:solidFill>
            <a:srgbClr val="12122B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4178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5"/>
                </a:solidFill>
              </a:rPr>
              <a:t>🔒  HTTPS · Audit logs · Rotation secrets · Refresh tokens JWT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822960"/>
            <a:ext cx="1554480" cy="1554480"/>
          </a:xfrm>
          <a:prstGeom prst="ellipse">
            <a:avLst/>
          </a:prstGeom>
          <a:solidFill>
            <a:srgbClr val="6C3DE8">
              <a:alpha val="80000"/>
            </a:srgbClr>
          </a:solidFill>
          <a:ln w="25400">
            <a:solidFill>
              <a:srgbClr val="6C3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NEXORA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5DE5"/>
                </a:solidFill>
              </a:rPr>
              <a:t>Plateforme d'Intelligence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B5DE5"/>
                </a:solidFill>
              </a:rPr>
              <a:t>Organisationnelle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731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de votre attention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5DE5"/>
                </a:solidFill>
              </a:rPr>
              <a:t>Questions 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1280160" cy="868680"/>
          </a:xfrm>
          <a:prstGeom prst="rect">
            <a:avLst/>
          </a:prstGeom>
          <a:solidFill>
            <a:srgbClr val="1E1E3A"/>
          </a:solidFill>
          <a:ln w="19050">
            <a:solidFill>
              <a:srgbClr val="6C3D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3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17 200+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Lignes de code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92040" y="1828800"/>
            <a:ext cx="1280160" cy="868680"/>
          </a:xfrm>
          <a:prstGeom prst="rect">
            <a:avLst/>
          </a:prstGeom>
          <a:solidFill>
            <a:srgbClr val="1E1E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Stories livrées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1280160" cy="868680"/>
          </a:xfrm>
          <a:prstGeom prst="rect">
            <a:avLst/>
          </a:prstGeom>
          <a:solidFill>
            <a:srgbClr val="1E1E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modules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ML / IA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26680" y="1828800"/>
            <a:ext cx="1280160" cy="868680"/>
          </a:xfrm>
          <a:prstGeom prst="rect">
            <a:avLst/>
          </a:prstGeom>
          <a:solidFill>
            <a:srgbClr val="1E1E3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sem.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2668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5"/>
                </a:solidFill>
              </a:rPr>
              <a:t>Durée réelle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0" y="2834640"/>
            <a:ext cx="5394960" cy="54864"/>
          </a:xfrm>
          <a:prstGeom prst="rect">
            <a:avLst/>
          </a:prstGeom>
          <a:solidFill>
            <a:srgbClr val="2E2E5A"/>
          </a:solidFill>
          <a:ln w="12700">
            <a:solidFill>
              <a:srgbClr val="2E2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Réalisé par 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Soubaibi Omar · Yassine Baizi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Encadrante 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Mme. Ounacer Soumaya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Filière &amp; École 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4IADM G5-A · EMSI Casablanca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4434840"/>
            <a:ext cx="5394960" cy="475488"/>
          </a:xfrm>
          <a:prstGeom prst="rect">
            <a:avLst/>
          </a:prstGeom>
          <a:solidFill>
            <a:srgbClr val="1E1E3A"/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445312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5DE5"/>
                </a:solidFill>
              </a:rPr>
              <a:t>Stack : Neo4j · FastAPI · React 18 · PySpark · Groq LLM · Docker · JWT · WebGL · WebSocket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A"/>
                </a:solidFill>
              </a:rPr>
              <a:t>NEXORA  |  2025–2026  |  EMSI Casablanca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NEXORA - Plateforme d'Intelligence Organisationnelle</dc:title>
  <dc:subject>PptxGenJS Presentation</dc:subject>
  <dc:creator>Soubaibi Omar &amp; Yassine Baizi</dc:creator>
  <cp:lastModifiedBy>Soubaibi Omar &amp; Yassine Baizi</cp:lastModifiedBy>
  <cp:revision>1</cp:revision>
  <dcterms:created xsi:type="dcterms:W3CDTF">2026-05-14T00:04:47Z</dcterms:created>
  <dcterms:modified xsi:type="dcterms:W3CDTF">2026-05-14T00:04:48Z</dcterms:modified>
</cp:coreProperties>
</file>